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53" r:id="rId1"/>
  </p:sldMasterIdLst>
  <p:sldIdLst>
    <p:sldId id="274" r:id="rId2"/>
    <p:sldId id="256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1" r:id="rId14"/>
    <p:sldId id="272" r:id="rId15"/>
    <p:sldId id="273" r:id="rId16"/>
  </p:sldIdLst>
  <p:sldSz cx="7556500" cy="10693400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3012" y="-4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363" y="1750055"/>
            <a:ext cx="6423775" cy="3722887"/>
          </a:xfrm>
        </p:spPr>
        <p:txBody>
          <a:bodyPr anchor="b">
            <a:normAutofit/>
          </a:bodyPr>
          <a:lstStyle>
            <a:lvl1pPr algn="ctr">
              <a:defRPr sz="39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6363" y="5616511"/>
            <a:ext cx="6423775" cy="2581762"/>
          </a:xfrm>
        </p:spPr>
        <p:txBody>
          <a:bodyPr/>
          <a:lstStyle>
            <a:lvl1pPr marL="0" indent="0" algn="ctr">
              <a:buNone/>
              <a:defRPr sz="1983"/>
            </a:lvl1pPr>
            <a:lvl2pPr marL="377830" indent="0" algn="ctr">
              <a:buNone/>
              <a:defRPr sz="1653"/>
            </a:lvl2pPr>
            <a:lvl3pPr marL="755660" indent="0" algn="ctr">
              <a:buNone/>
              <a:defRPr sz="1488"/>
            </a:lvl3pPr>
            <a:lvl4pPr marL="1133490" indent="0" algn="ctr">
              <a:buNone/>
              <a:defRPr sz="1322"/>
            </a:lvl4pPr>
            <a:lvl5pPr marL="1511320" indent="0" algn="ctr">
              <a:buNone/>
              <a:defRPr sz="1322"/>
            </a:lvl5pPr>
            <a:lvl6pPr marL="1889150" indent="0" algn="ctr">
              <a:buNone/>
              <a:defRPr sz="1322"/>
            </a:lvl6pPr>
            <a:lvl7pPr marL="2266980" indent="0" algn="ctr">
              <a:buNone/>
              <a:defRPr sz="1322"/>
            </a:lvl7pPr>
            <a:lvl8pPr marL="2644811" indent="0" algn="ctr">
              <a:buNone/>
              <a:defRPr sz="1322"/>
            </a:lvl8pPr>
            <a:lvl9pPr marL="3022641" indent="0" algn="ctr">
              <a:buNone/>
              <a:defRPr sz="132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2437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1779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75" y="1024788"/>
            <a:ext cx="6032750" cy="4448157"/>
          </a:xfrm>
        </p:spPr>
        <p:txBody>
          <a:bodyPr anchor="b">
            <a:normAutofit/>
          </a:bodyPr>
          <a:lstStyle>
            <a:lvl1pPr>
              <a:defRPr sz="28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1875" y="5616514"/>
            <a:ext cx="6032750" cy="2339180"/>
          </a:xfrm>
        </p:spPr>
        <p:txBody>
          <a:bodyPr/>
          <a:lstStyle>
            <a:lvl1pPr marL="0" indent="0" algn="ctr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1pPr>
            <a:lvl2pPr marL="377830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610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364" y="950527"/>
            <a:ext cx="6417175" cy="20680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6363" y="3256233"/>
            <a:ext cx="3164659" cy="57737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6223" y="3256233"/>
            <a:ext cx="3157315" cy="57737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158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364" y="950527"/>
            <a:ext cx="6417175" cy="2066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6499" y="3256233"/>
            <a:ext cx="2975269" cy="128469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983" b="1"/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6362" y="4540924"/>
            <a:ext cx="3165405" cy="44890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15614" y="3256233"/>
            <a:ext cx="2967924" cy="128469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983" b="1"/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5478" y="4540924"/>
            <a:ext cx="3158060" cy="44890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995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642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4960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490" y="950525"/>
            <a:ext cx="2437168" cy="3683282"/>
          </a:xfrm>
        </p:spPr>
        <p:txBody>
          <a:bodyPr anchor="b">
            <a:normAutofit/>
          </a:bodyPr>
          <a:lstStyle>
            <a:lvl1pPr>
              <a:defRPr sz="23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7342" y="950524"/>
            <a:ext cx="3836196" cy="8079458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8490" y="4633809"/>
            <a:ext cx="2437168" cy="4396174"/>
          </a:xfrm>
        </p:spPr>
        <p:txBody>
          <a:bodyPr/>
          <a:lstStyle>
            <a:lvl1pPr marL="0" indent="0" algn="ctr">
              <a:buNone/>
              <a:defRPr sz="1322"/>
            </a:lvl1pPr>
            <a:lvl2pPr marL="377830" indent="0">
              <a:buNone/>
              <a:defRPr sz="1157"/>
            </a:lvl2pPr>
            <a:lvl3pPr marL="755660" indent="0">
              <a:buNone/>
              <a:defRPr sz="992"/>
            </a:lvl3pPr>
            <a:lvl4pPr marL="1133490" indent="0">
              <a:buNone/>
              <a:defRPr sz="826"/>
            </a:lvl4pPr>
            <a:lvl5pPr marL="1511320" indent="0">
              <a:buNone/>
              <a:defRPr sz="826"/>
            </a:lvl5pPr>
            <a:lvl6pPr marL="1889150" indent="0">
              <a:buNone/>
              <a:defRPr sz="826"/>
            </a:lvl6pPr>
            <a:lvl7pPr marL="2266980" indent="0">
              <a:buNone/>
              <a:defRPr sz="826"/>
            </a:lvl7pPr>
            <a:lvl8pPr marL="2644811" indent="0">
              <a:buNone/>
              <a:defRPr sz="826"/>
            </a:lvl8pPr>
            <a:lvl9pPr marL="3022641" indent="0">
              <a:buNone/>
              <a:defRPr sz="82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0617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491" y="950525"/>
            <a:ext cx="3444061" cy="3683282"/>
          </a:xfrm>
        </p:spPr>
        <p:txBody>
          <a:bodyPr anchor="b">
            <a:normAutofit/>
          </a:bodyPr>
          <a:lstStyle>
            <a:lvl1pPr>
              <a:defRPr sz="26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38485" y="1183292"/>
            <a:ext cx="2451845" cy="7613922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2644"/>
            </a:lvl1pPr>
            <a:lvl2pPr marL="377830" indent="0">
              <a:buNone/>
              <a:defRPr sz="2314"/>
            </a:lvl2pPr>
            <a:lvl3pPr marL="755660" indent="0">
              <a:buNone/>
              <a:defRPr sz="1983"/>
            </a:lvl3pPr>
            <a:lvl4pPr marL="1133490" indent="0">
              <a:buNone/>
              <a:defRPr sz="1653"/>
            </a:lvl4pPr>
            <a:lvl5pPr marL="1511320" indent="0">
              <a:buNone/>
              <a:defRPr sz="1653"/>
            </a:lvl5pPr>
            <a:lvl6pPr marL="1889150" indent="0">
              <a:buNone/>
              <a:defRPr sz="1653"/>
            </a:lvl6pPr>
            <a:lvl7pPr marL="2266980" indent="0">
              <a:buNone/>
              <a:defRPr sz="1653"/>
            </a:lvl7pPr>
            <a:lvl8pPr marL="2644811" indent="0">
              <a:buNone/>
              <a:defRPr sz="1653"/>
            </a:lvl8pPr>
            <a:lvl9pPr marL="3022641" indent="0">
              <a:buNone/>
              <a:defRPr sz="165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362" y="4633806"/>
            <a:ext cx="3447068" cy="4396176"/>
          </a:xfrm>
        </p:spPr>
        <p:txBody>
          <a:bodyPr>
            <a:normAutofit/>
          </a:bodyPr>
          <a:lstStyle>
            <a:lvl1pPr marL="0" indent="0" algn="ctr">
              <a:buNone/>
              <a:defRPr sz="1488"/>
            </a:lvl1pPr>
            <a:lvl2pPr marL="377830" indent="0">
              <a:buNone/>
              <a:defRPr sz="1157"/>
            </a:lvl2pPr>
            <a:lvl3pPr marL="755660" indent="0">
              <a:buNone/>
              <a:defRPr sz="992"/>
            </a:lvl3pPr>
            <a:lvl4pPr marL="1133490" indent="0">
              <a:buNone/>
              <a:defRPr sz="826"/>
            </a:lvl4pPr>
            <a:lvl5pPr marL="1511320" indent="0">
              <a:buNone/>
              <a:defRPr sz="826"/>
            </a:lvl5pPr>
            <a:lvl6pPr marL="1889150" indent="0">
              <a:buNone/>
              <a:defRPr sz="826"/>
            </a:lvl6pPr>
            <a:lvl7pPr marL="2266980" indent="0">
              <a:buNone/>
              <a:defRPr sz="826"/>
            </a:lvl7pPr>
            <a:lvl8pPr marL="2644811" indent="0">
              <a:buNone/>
              <a:defRPr sz="826"/>
            </a:lvl8pPr>
            <a:lvl9pPr marL="3022641" indent="0">
              <a:buNone/>
              <a:defRPr sz="82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680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370" y="6688245"/>
            <a:ext cx="6425730" cy="1277587"/>
          </a:xfrm>
        </p:spPr>
        <p:txBody>
          <a:bodyPr anchor="b">
            <a:normAutofit/>
          </a:bodyPr>
          <a:lstStyle>
            <a:lvl1pPr>
              <a:defRPr sz="23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6370" y="968803"/>
            <a:ext cx="6425730" cy="5269883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2644"/>
            </a:lvl1pPr>
            <a:lvl2pPr marL="377830" indent="0">
              <a:buNone/>
              <a:defRPr sz="2314"/>
            </a:lvl2pPr>
            <a:lvl3pPr marL="755660" indent="0">
              <a:buNone/>
              <a:defRPr sz="1983"/>
            </a:lvl3pPr>
            <a:lvl4pPr marL="1133490" indent="0">
              <a:buNone/>
              <a:defRPr sz="1653"/>
            </a:lvl4pPr>
            <a:lvl5pPr marL="1511320" indent="0">
              <a:buNone/>
              <a:defRPr sz="1653"/>
            </a:lvl5pPr>
            <a:lvl6pPr marL="1889150" indent="0">
              <a:buNone/>
              <a:defRPr sz="1653"/>
            </a:lvl6pPr>
            <a:lvl7pPr marL="2266980" indent="0">
              <a:buNone/>
              <a:defRPr sz="1653"/>
            </a:lvl7pPr>
            <a:lvl8pPr marL="2644811" indent="0">
              <a:buNone/>
              <a:defRPr sz="1653"/>
            </a:lvl8pPr>
            <a:lvl9pPr marL="3022641" indent="0">
              <a:buNone/>
              <a:defRPr sz="165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363" y="7965831"/>
            <a:ext cx="6424760" cy="1064151"/>
          </a:xfrm>
        </p:spPr>
        <p:txBody>
          <a:bodyPr>
            <a:normAutofit/>
          </a:bodyPr>
          <a:lstStyle>
            <a:lvl1pPr marL="0" indent="0" algn="ctr">
              <a:buNone/>
              <a:defRPr sz="1488"/>
            </a:lvl1pPr>
            <a:lvl2pPr marL="377830" indent="0">
              <a:buNone/>
              <a:defRPr sz="1157"/>
            </a:lvl2pPr>
            <a:lvl3pPr marL="755660" indent="0">
              <a:buNone/>
              <a:defRPr sz="992"/>
            </a:lvl3pPr>
            <a:lvl4pPr marL="1133490" indent="0">
              <a:buNone/>
              <a:defRPr sz="826"/>
            </a:lvl4pPr>
            <a:lvl5pPr marL="1511320" indent="0">
              <a:buNone/>
              <a:defRPr sz="826"/>
            </a:lvl5pPr>
            <a:lvl6pPr marL="1889150" indent="0">
              <a:buNone/>
              <a:defRPr sz="826"/>
            </a:lvl6pPr>
            <a:lvl7pPr marL="2266980" indent="0">
              <a:buNone/>
              <a:defRPr sz="826"/>
            </a:lvl7pPr>
            <a:lvl8pPr marL="2644811" indent="0">
              <a:buNone/>
              <a:defRPr sz="826"/>
            </a:lvl8pPr>
            <a:lvl9pPr marL="3022641" indent="0">
              <a:buNone/>
              <a:defRPr sz="82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95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362" y="950527"/>
            <a:ext cx="6417176" cy="5340243"/>
          </a:xfrm>
        </p:spPr>
        <p:txBody>
          <a:bodyPr anchor="ctr"/>
          <a:lstStyle>
            <a:lvl1pPr>
              <a:defRPr sz="26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364" y="6556404"/>
            <a:ext cx="6417175" cy="2482631"/>
          </a:xfrm>
        </p:spPr>
        <p:txBody>
          <a:bodyPr anchor="ctr"/>
          <a:lstStyle>
            <a:lvl1pPr marL="0" indent="0" algn="ctr">
              <a:buNone/>
              <a:defRPr sz="1322"/>
            </a:lvl1pPr>
            <a:lvl2pPr marL="377830" indent="0">
              <a:buNone/>
              <a:defRPr sz="1157"/>
            </a:lvl2pPr>
            <a:lvl3pPr marL="755660" indent="0">
              <a:buNone/>
              <a:defRPr sz="992"/>
            </a:lvl3pPr>
            <a:lvl4pPr marL="1133490" indent="0">
              <a:buNone/>
              <a:defRPr sz="826"/>
            </a:lvl4pPr>
            <a:lvl5pPr marL="1511320" indent="0">
              <a:buNone/>
              <a:defRPr sz="826"/>
            </a:lvl5pPr>
            <a:lvl6pPr marL="1889150" indent="0">
              <a:buNone/>
              <a:defRPr sz="826"/>
            </a:lvl6pPr>
            <a:lvl7pPr marL="2266980" indent="0">
              <a:buNone/>
              <a:defRPr sz="826"/>
            </a:lvl7pPr>
            <a:lvl8pPr marL="2644811" indent="0">
              <a:buNone/>
              <a:defRPr sz="826"/>
            </a:lvl8pPr>
            <a:lvl9pPr marL="3022641" indent="0">
              <a:buNone/>
              <a:defRPr sz="82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6159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350" y="950525"/>
            <a:ext cx="5765768" cy="4666713"/>
          </a:xfrm>
        </p:spPr>
        <p:txBody>
          <a:bodyPr anchor="ctr"/>
          <a:lstStyle>
            <a:lvl1pPr>
              <a:defRPr sz="26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066442" y="5628976"/>
            <a:ext cx="5424602" cy="665511"/>
          </a:xfrm>
        </p:spPr>
        <p:txBody>
          <a:bodyPr anchor="t">
            <a:normAutofit/>
          </a:bodyPr>
          <a:lstStyle>
            <a:lvl1pPr marL="0" indent="0" algn="r">
              <a:buNone/>
              <a:defRPr sz="1157"/>
            </a:lvl1pPr>
            <a:lvl2pPr marL="377830" indent="0">
              <a:buNone/>
              <a:defRPr sz="1157"/>
            </a:lvl2pPr>
            <a:lvl3pPr marL="755660" indent="0">
              <a:buNone/>
              <a:defRPr sz="992"/>
            </a:lvl3pPr>
            <a:lvl4pPr marL="1133490" indent="0">
              <a:buNone/>
              <a:defRPr sz="826"/>
            </a:lvl4pPr>
            <a:lvl5pPr marL="1511320" indent="0">
              <a:buNone/>
              <a:defRPr sz="826"/>
            </a:lvl5pPr>
            <a:lvl6pPr marL="1889150" indent="0">
              <a:buNone/>
              <a:defRPr sz="826"/>
            </a:lvl6pPr>
            <a:lvl7pPr marL="2266980" indent="0">
              <a:buNone/>
              <a:defRPr sz="826"/>
            </a:lvl7pPr>
            <a:lvl8pPr marL="2644811" indent="0">
              <a:buNone/>
              <a:defRPr sz="826"/>
            </a:lvl8pPr>
            <a:lvl9pPr marL="3022641" indent="0">
              <a:buNone/>
              <a:defRPr sz="82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361" y="6556406"/>
            <a:ext cx="6417176" cy="247357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157"/>
            </a:lvl2pPr>
            <a:lvl3pPr marL="755660" indent="0">
              <a:buNone/>
              <a:defRPr sz="992"/>
            </a:lvl3pPr>
            <a:lvl4pPr marL="1133490" indent="0">
              <a:buNone/>
              <a:defRPr sz="826"/>
            </a:lvl4pPr>
            <a:lvl5pPr marL="1511320" indent="0">
              <a:buNone/>
              <a:defRPr sz="826"/>
            </a:lvl5pPr>
            <a:lvl6pPr marL="1889150" indent="0">
              <a:buNone/>
              <a:defRPr sz="826"/>
            </a:lvl6pPr>
            <a:lvl7pPr marL="2266980" indent="0">
              <a:buNone/>
              <a:defRPr sz="826"/>
            </a:lvl7pPr>
            <a:lvl8pPr marL="2644811" indent="0">
              <a:buNone/>
              <a:defRPr sz="826"/>
            </a:lvl8pPr>
            <a:lvl9pPr marL="3022641" indent="0">
              <a:buNone/>
              <a:defRPr sz="82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417529" y="1000653"/>
            <a:ext cx="377825" cy="911817"/>
          </a:xfrm>
          <a:prstGeom prst="rect">
            <a:avLst/>
          </a:prstGeom>
        </p:spPr>
        <p:txBody>
          <a:bodyPr vert="horz" lIns="75565" tIns="37783" rIns="75565" bIns="37783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611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7082" y="4792190"/>
            <a:ext cx="377825" cy="911817"/>
          </a:xfrm>
          <a:prstGeom prst="rect">
            <a:avLst/>
          </a:prstGeom>
        </p:spPr>
        <p:txBody>
          <a:bodyPr vert="horz" lIns="75565" tIns="37783" rIns="75565" bIns="37783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611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123986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370" y="3316456"/>
            <a:ext cx="6418145" cy="3916602"/>
          </a:xfrm>
        </p:spPr>
        <p:txBody>
          <a:bodyPr anchor="b"/>
          <a:lstStyle>
            <a:lvl1pPr>
              <a:defRPr sz="26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362" y="7251422"/>
            <a:ext cx="6417176" cy="1778560"/>
          </a:xfrm>
        </p:spPr>
        <p:txBody>
          <a:bodyPr anchor="t"/>
          <a:lstStyle>
            <a:lvl1pPr marL="0" indent="0" algn="ctr">
              <a:buNone/>
              <a:defRPr sz="1322"/>
            </a:lvl1pPr>
            <a:lvl2pPr marL="377830" indent="0">
              <a:buNone/>
              <a:defRPr sz="1157"/>
            </a:lvl2pPr>
            <a:lvl3pPr marL="755660" indent="0">
              <a:buNone/>
              <a:defRPr sz="992"/>
            </a:lvl3pPr>
            <a:lvl4pPr marL="1133490" indent="0">
              <a:buNone/>
              <a:defRPr sz="826"/>
            </a:lvl4pPr>
            <a:lvl5pPr marL="1511320" indent="0">
              <a:buNone/>
              <a:defRPr sz="826"/>
            </a:lvl5pPr>
            <a:lvl6pPr marL="1889150" indent="0">
              <a:buNone/>
              <a:defRPr sz="826"/>
            </a:lvl6pPr>
            <a:lvl7pPr marL="2266980" indent="0">
              <a:buNone/>
              <a:defRPr sz="826"/>
            </a:lvl7pPr>
            <a:lvl8pPr marL="2644811" indent="0">
              <a:buNone/>
              <a:defRPr sz="826"/>
            </a:lvl8pPr>
            <a:lvl9pPr marL="3022641" indent="0">
              <a:buNone/>
              <a:defRPr sz="82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13660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66361" y="950527"/>
            <a:ext cx="6417176" cy="2066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66363" y="3256233"/>
            <a:ext cx="2044665" cy="128374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983" b="0">
                <a:solidFill>
                  <a:schemeClr val="tx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66363" y="4539976"/>
            <a:ext cx="2044665" cy="4490006"/>
          </a:xfrm>
        </p:spPr>
        <p:txBody>
          <a:bodyPr anchor="t">
            <a:normAutofit/>
          </a:bodyPr>
          <a:lstStyle>
            <a:lvl1pPr marL="0" indent="0" algn="ctr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54898" y="3256232"/>
            <a:ext cx="2044419" cy="128374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983" b="0">
                <a:solidFill>
                  <a:schemeClr val="tx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754899" y="4539976"/>
            <a:ext cx="2045202" cy="4490006"/>
          </a:xfrm>
        </p:spPr>
        <p:txBody>
          <a:bodyPr anchor="t">
            <a:normAutofit/>
          </a:bodyPr>
          <a:lstStyle>
            <a:lvl1pPr marL="0" indent="0" algn="ctr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941784" y="3256232"/>
            <a:ext cx="2039865" cy="128374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983" b="0">
                <a:solidFill>
                  <a:schemeClr val="tx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4943673" y="4539976"/>
            <a:ext cx="2039865" cy="4490006"/>
          </a:xfrm>
        </p:spPr>
        <p:txBody>
          <a:bodyPr anchor="t">
            <a:normAutofit/>
          </a:bodyPr>
          <a:lstStyle>
            <a:lvl1pPr marL="0" indent="0" algn="ctr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5762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66362" y="950527"/>
            <a:ext cx="6417176" cy="2066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66363" y="6220114"/>
            <a:ext cx="2044665" cy="89854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653" b="0">
                <a:solidFill>
                  <a:schemeClr val="tx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76825" y="3262337"/>
            <a:ext cx="1822219" cy="2376311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66363" y="7118656"/>
            <a:ext cx="2044665" cy="1911328"/>
          </a:xfrm>
        </p:spPr>
        <p:txBody>
          <a:bodyPr anchor="t">
            <a:normAutofit/>
          </a:bodyPr>
          <a:lstStyle>
            <a:lvl1pPr marL="0" indent="0" algn="ctr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53550" y="6220114"/>
            <a:ext cx="2044682" cy="89854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653" b="0">
                <a:solidFill>
                  <a:schemeClr val="tx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31826" y="3262337"/>
            <a:ext cx="1816315" cy="2376311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752710" y="7118654"/>
            <a:ext cx="2045521" cy="1911328"/>
          </a:xfrm>
        </p:spPr>
        <p:txBody>
          <a:bodyPr anchor="t">
            <a:normAutofit/>
          </a:bodyPr>
          <a:lstStyle>
            <a:lvl1pPr marL="0" indent="0" algn="ctr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941861" y="6220114"/>
            <a:ext cx="2039053" cy="89854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653" b="0">
                <a:solidFill>
                  <a:schemeClr val="tx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053041" y="3262337"/>
            <a:ext cx="1817299" cy="2376311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4941783" y="7118658"/>
            <a:ext cx="2041754" cy="1911324"/>
          </a:xfrm>
        </p:spPr>
        <p:txBody>
          <a:bodyPr anchor="t">
            <a:normAutofit/>
          </a:bodyPr>
          <a:lstStyle>
            <a:lvl1pPr marL="0" indent="0" algn="ctr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28198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55532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7621" y="950525"/>
            <a:ext cx="1575918" cy="807945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6363" y="950525"/>
            <a:ext cx="4746802" cy="80794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748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6364" y="950527"/>
            <a:ext cx="6417175" cy="20680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6362" y="3268307"/>
            <a:ext cx="6417176" cy="5761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59216" y="9173553"/>
            <a:ext cx="1700213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6363" y="9173553"/>
            <a:ext cx="4135786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16497" y="9173553"/>
            <a:ext cx="467041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6123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54" r:id="rId1"/>
    <p:sldLayoutId id="2147483955" r:id="rId2"/>
    <p:sldLayoutId id="2147483956" r:id="rId3"/>
    <p:sldLayoutId id="2147483957" r:id="rId4"/>
    <p:sldLayoutId id="2147483958" r:id="rId5"/>
    <p:sldLayoutId id="2147483959" r:id="rId6"/>
    <p:sldLayoutId id="2147483960" r:id="rId7"/>
    <p:sldLayoutId id="2147483961" r:id="rId8"/>
    <p:sldLayoutId id="2147483962" r:id="rId9"/>
    <p:sldLayoutId id="2147483963" r:id="rId10"/>
    <p:sldLayoutId id="2147483964" r:id="rId11"/>
    <p:sldLayoutId id="2147483965" r:id="rId12"/>
    <p:sldLayoutId id="2147483966" r:id="rId13"/>
    <p:sldLayoutId id="2147483967" r:id="rId14"/>
    <p:sldLayoutId id="2147483968" r:id="rId15"/>
    <p:sldLayoutId id="2147483969" r:id="rId16"/>
    <p:sldLayoutId id="2147483970" r:id="rId17"/>
  </p:sldLayoutIdLst>
  <p:txStyles>
    <p:titleStyle>
      <a:lvl1pPr algn="ctr" defTabSz="755660" rtl="0" eaLnBrk="1" latinLnBrk="0" hangingPunct="1">
        <a:lnSpc>
          <a:spcPct val="90000"/>
        </a:lnSpc>
        <a:spcBef>
          <a:spcPct val="0"/>
        </a:spcBef>
        <a:buNone/>
        <a:defRPr sz="281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188915" indent="-188915" algn="l" defTabSz="755660" rtl="0" eaLnBrk="1" latinLnBrk="0" hangingPunct="1">
        <a:lnSpc>
          <a:spcPct val="120000"/>
        </a:lnSpc>
        <a:spcBef>
          <a:spcPts val="826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566745" indent="-188915" algn="l" defTabSz="755660" rtl="0" eaLnBrk="1" latinLnBrk="0" hangingPunct="1">
        <a:lnSpc>
          <a:spcPct val="12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944575" indent="-188915" algn="l" defTabSz="755660" rtl="0" eaLnBrk="1" latinLnBrk="0" hangingPunct="1">
        <a:lnSpc>
          <a:spcPct val="120000"/>
        </a:lnSpc>
        <a:spcBef>
          <a:spcPts val="413"/>
        </a:spcBef>
        <a:buFont typeface="Arial" panose="020B0604020202020204" pitchFamily="34" charset="0"/>
        <a:buChar char="•"/>
        <a:defRPr sz="1322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322405" indent="-188915" algn="l" defTabSz="755660" rtl="0" eaLnBrk="1" latinLnBrk="0" hangingPunct="1">
        <a:lnSpc>
          <a:spcPct val="120000"/>
        </a:lnSpc>
        <a:spcBef>
          <a:spcPts val="413"/>
        </a:spcBef>
        <a:buFont typeface="Arial" panose="020B0604020202020204" pitchFamily="34" charset="0"/>
        <a:buChar char="•"/>
        <a:defRPr sz="1157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1700235" indent="-188915" algn="l" defTabSz="755660" rtl="0" eaLnBrk="1" latinLnBrk="0" hangingPunct="1">
        <a:lnSpc>
          <a:spcPct val="120000"/>
        </a:lnSpc>
        <a:spcBef>
          <a:spcPts val="413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078065" indent="-188915" algn="l" defTabSz="755660" rtl="0" eaLnBrk="1" latinLnBrk="0" hangingPunct="1">
        <a:lnSpc>
          <a:spcPct val="120000"/>
        </a:lnSpc>
        <a:spcBef>
          <a:spcPts val="413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455896" indent="-188915" algn="l" defTabSz="755660" rtl="0" eaLnBrk="1" latinLnBrk="0" hangingPunct="1">
        <a:lnSpc>
          <a:spcPct val="120000"/>
        </a:lnSpc>
        <a:spcBef>
          <a:spcPts val="413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2833726" indent="-188915" algn="l" defTabSz="755660" rtl="0" eaLnBrk="1" latinLnBrk="0" hangingPunct="1">
        <a:lnSpc>
          <a:spcPct val="120000"/>
        </a:lnSpc>
        <a:spcBef>
          <a:spcPts val="413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211556" indent="-188915" algn="l" defTabSz="755660" rtl="0" eaLnBrk="1" latinLnBrk="0" hangingPunct="1">
        <a:lnSpc>
          <a:spcPct val="120000"/>
        </a:lnSpc>
        <a:spcBef>
          <a:spcPts val="413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66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830" algn="l" defTabSz="75566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660" algn="l" defTabSz="75566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490" algn="l" defTabSz="75566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320" algn="l" defTabSz="75566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150" algn="l" defTabSz="75566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6980" algn="l" defTabSz="75566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4811" algn="l" defTabSz="75566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2641" algn="l" defTabSz="75566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imathiNewton/Telco-Customer-Churn/blob/master/Datasets/telco_churn.csv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roshanikumari110/recent-activity/all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187EF4-7C78-5657-2CC1-60F0D38A0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8300"/>
            <a:ext cx="9112250" cy="1112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648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23845" y="627736"/>
            <a:ext cx="3053715" cy="3015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00405" marR="5080" indent="-687705">
              <a:lnSpc>
                <a:spcPct val="153000"/>
              </a:lnSpc>
              <a:spcBef>
                <a:spcPts val="95"/>
              </a:spcBef>
            </a:pPr>
            <a:r>
              <a:rPr sz="1400" b="1" spc="-65" dirty="0">
                <a:latin typeface="Times New Roman"/>
                <a:cs typeface="Times New Roman"/>
              </a:rPr>
              <a:t>DATA</a:t>
            </a:r>
            <a:r>
              <a:rPr sz="1400" b="1" spc="-155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ANALYTICS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WITH POWER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BI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5033" y="1633381"/>
            <a:ext cx="53136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latin typeface="Times New Roman"/>
                <a:cs typeface="Times New Roman"/>
              </a:rPr>
              <a:t>ADVANCED</a:t>
            </a:r>
            <a:r>
              <a:rPr sz="1600" b="1" spc="-5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TELECOM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CUSTOMER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CHURN</a:t>
            </a:r>
            <a:r>
              <a:rPr sz="1600" b="1" spc="-9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ANALYSIS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87650" y="2415540"/>
            <a:ext cx="1981200" cy="31866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Submitted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by</a:t>
            </a:r>
            <a:endParaRPr lang="en-US" spc="-25" dirty="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Roshani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Kumari</a:t>
            </a:r>
            <a:endParaRPr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 marR="5080">
              <a:lnSpc>
                <a:spcPct val="173800"/>
              </a:lnSpc>
            </a:pPr>
            <a:r>
              <a:rPr sz="1400" dirty="0">
                <a:latin typeface="Times New Roman"/>
                <a:cs typeface="Times New Roman"/>
              </a:rPr>
              <a:t>Registration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No.: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12307183 Programme: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BTech-CSE </a:t>
            </a:r>
            <a:r>
              <a:rPr sz="1400" dirty="0">
                <a:latin typeface="Times New Roman"/>
                <a:cs typeface="Times New Roman"/>
              </a:rPr>
              <a:t>Section: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9P172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n-US"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38100" algn="ctr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Under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Guidance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of</a:t>
            </a:r>
            <a:endParaRPr sz="1600" dirty="0">
              <a:latin typeface="Times New Roman"/>
              <a:cs typeface="Times New Roman"/>
            </a:endParaRPr>
          </a:p>
          <a:p>
            <a:pPr marL="84455" algn="ctr">
              <a:lnSpc>
                <a:spcPct val="100000"/>
              </a:lnSpc>
              <a:spcBef>
                <a:spcPts val="820"/>
              </a:spcBef>
            </a:pPr>
            <a:r>
              <a:rPr lang="en-US" sz="1400" b="1" spc="-50" dirty="0" err="1">
                <a:latin typeface="Times New Roman"/>
                <a:cs typeface="Times New Roman"/>
              </a:rPr>
              <a:t>Ms</a:t>
            </a:r>
            <a:r>
              <a:rPr lang="en-US" sz="1400" b="1" spc="-50" dirty="0">
                <a:latin typeface="Times New Roman"/>
                <a:cs typeface="Times New Roman"/>
              </a:rPr>
              <a:t> Gunjan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101850" y="5880100"/>
            <a:ext cx="3197225" cy="229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endParaRPr lang="en-US" sz="1400" b="1" dirty="0">
              <a:latin typeface="Times New Roman"/>
              <a:cs typeface="Times New Roman"/>
            </a:endParaRPr>
          </a:p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Discipline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CSE/IT</a:t>
            </a:r>
            <a:endParaRPr sz="1400" dirty="0">
              <a:latin typeface="Times New Roman"/>
              <a:cs typeface="Times New Roman"/>
            </a:endParaRPr>
          </a:p>
          <a:p>
            <a:pPr marL="12700" marR="5080" algn="ctr">
              <a:lnSpc>
                <a:spcPts val="4870"/>
              </a:lnSpc>
              <a:spcBef>
                <a:spcPts val="525"/>
              </a:spcBef>
            </a:pPr>
            <a:r>
              <a:rPr sz="1400" b="1" dirty="0">
                <a:latin typeface="Times New Roman"/>
                <a:cs typeface="Times New Roman"/>
              </a:rPr>
              <a:t>Lovely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School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254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Computer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Science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 </a:t>
            </a:r>
            <a:r>
              <a:rPr sz="1400" b="1" dirty="0">
                <a:latin typeface="Times New Roman"/>
                <a:cs typeface="Times New Roman"/>
              </a:rPr>
              <a:t>Lovely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Professional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University,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Phagwara</a:t>
            </a:r>
            <a:endParaRPr sz="1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0031" y="1011681"/>
            <a:ext cx="6807200" cy="68291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95"/>
              </a:spcBef>
            </a:pPr>
            <a:r>
              <a:rPr sz="2000" b="1" spc="-10" dirty="0">
                <a:latin typeface="Times New Roman"/>
                <a:cs typeface="Times New Roman"/>
              </a:rPr>
              <a:t>1.Introduction</a:t>
            </a:r>
            <a:endParaRPr sz="2000" dirty="0">
              <a:latin typeface="Times New Roman"/>
              <a:cs typeface="Times New Roman"/>
            </a:endParaRPr>
          </a:p>
          <a:p>
            <a:pPr marL="18415" marR="5080" indent="-6350" algn="just">
              <a:lnSpc>
                <a:spcPct val="170800"/>
              </a:lnSpc>
              <a:spcBef>
                <a:spcPts val="1490"/>
              </a:spcBef>
            </a:pPr>
            <a:r>
              <a:rPr sz="1600" dirty="0">
                <a:latin typeface="Calibri"/>
                <a:cs typeface="Calibri"/>
              </a:rPr>
              <a:t>Customer</a:t>
            </a:r>
            <a:r>
              <a:rPr sz="1600" spc="1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churn</a:t>
            </a:r>
            <a:r>
              <a:rPr sz="1600" spc="1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1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critical</a:t>
            </a:r>
            <a:r>
              <a:rPr sz="1600" spc="1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challenge</a:t>
            </a:r>
            <a:r>
              <a:rPr sz="1600" spc="1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1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1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telecom</a:t>
            </a:r>
            <a:r>
              <a:rPr sz="1600" spc="1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industry,</a:t>
            </a:r>
            <a:r>
              <a:rPr sz="1600" spc="1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1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acquiring</a:t>
            </a:r>
            <a:r>
              <a:rPr sz="1600" spc="1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new</a:t>
            </a:r>
            <a:r>
              <a:rPr sz="1600" spc="1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customers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1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often</a:t>
            </a:r>
            <a:r>
              <a:rPr sz="1600" spc="16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more </a:t>
            </a:r>
            <a:r>
              <a:rPr sz="1600" dirty="0">
                <a:latin typeface="Calibri"/>
                <a:cs typeface="Calibri"/>
              </a:rPr>
              <a:t>expensive</a:t>
            </a:r>
            <a:r>
              <a:rPr sz="1600" spc="43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than</a:t>
            </a:r>
            <a:r>
              <a:rPr sz="1600" spc="43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retaining</a:t>
            </a:r>
            <a:r>
              <a:rPr sz="1600" spc="4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existing</a:t>
            </a:r>
            <a:r>
              <a:rPr sz="1600" spc="4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ones.</a:t>
            </a:r>
            <a:r>
              <a:rPr sz="1600" spc="43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4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increasing</a:t>
            </a:r>
            <a:r>
              <a:rPr sz="1600" spc="4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competition</a:t>
            </a:r>
            <a:r>
              <a:rPr sz="1600" spc="4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4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multiple</a:t>
            </a:r>
            <a:r>
              <a:rPr sz="1600" spc="4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service</a:t>
            </a:r>
            <a:r>
              <a:rPr sz="1600" spc="4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providers, </a:t>
            </a:r>
            <a:r>
              <a:rPr sz="1600" dirty="0">
                <a:latin typeface="Calibri"/>
                <a:cs typeface="Calibri"/>
              </a:rPr>
              <a:t>understanding</a:t>
            </a:r>
            <a:r>
              <a:rPr sz="1600" spc="3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why</a:t>
            </a:r>
            <a:r>
              <a:rPr sz="1600" spc="3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customers</a:t>
            </a:r>
            <a:r>
              <a:rPr sz="1600" spc="3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leave</a:t>
            </a:r>
            <a:r>
              <a:rPr sz="1600" spc="3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3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telecom</a:t>
            </a:r>
            <a:r>
              <a:rPr sz="1600" spc="3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service</a:t>
            </a:r>
            <a:r>
              <a:rPr sz="1600" spc="3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has</a:t>
            </a:r>
            <a:r>
              <a:rPr sz="1600" spc="3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become</a:t>
            </a:r>
            <a:r>
              <a:rPr sz="1600" spc="3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essential</a:t>
            </a:r>
            <a:r>
              <a:rPr sz="1600" spc="3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3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improving</a:t>
            </a:r>
            <a:r>
              <a:rPr sz="1600" spc="3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customer satisfaction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business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sustainability.</a:t>
            </a:r>
            <a:endParaRPr lang="en-US" sz="1600" spc="-10" dirty="0">
              <a:latin typeface="Calibri"/>
              <a:cs typeface="Calibri"/>
            </a:endParaRPr>
          </a:p>
          <a:p>
            <a:pPr marL="18415" marR="5080" indent="-6350" algn="just">
              <a:lnSpc>
                <a:spcPct val="170800"/>
              </a:lnSpc>
              <a:spcBef>
                <a:spcPts val="1490"/>
              </a:spcBef>
            </a:pPr>
            <a:endParaRPr sz="1600" dirty="0">
              <a:latin typeface="Calibri"/>
              <a:cs typeface="Calibri"/>
            </a:endParaRPr>
          </a:p>
          <a:p>
            <a:pPr marL="18415" marR="5080" indent="-6350" algn="just">
              <a:lnSpc>
                <a:spcPct val="170800"/>
              </a:lnSpc>
            </a:pPr>
            <a:r>
              <a:rPr sz="1600" dirty="0">
                <a:latin typeface="Calibri"/>
                <a:cs typeface="Calibri"/>
              </a:rPr>
              <a:t>This</a:t>
            </a:r>
            <a:r>
              <a:rPr sz="1600" spc="1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project</a:t>
            </a:r>
            <a:r>
              <a:rPr sz="1600" spc="1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aims</a:t>
            </a:r>
            <a:r>
              <a:rPr sz="1600" spc="1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1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build</a:t>
            </a:r>
            <a:r>
              <a:rPr sz="1600" spc="1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1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interactive</a:t>
            </a:r>
            <a:r>
              <a:rPr sz="1600" spc="1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Power</a:t>
            </a:r>
            <a:r>
              <a:rPr sz="1600" spc="1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BI</a:t>
            </a:r>
            <a:r>
              <a:rPr sz="1600" spc="1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dashboard</a:t>
            </a:r>
            <a:r>
              <a:rPr sz="1600" spc="1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</a:t>
            </a:r>
            <a:r>
              <a:rPr sz="1600" spc="1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1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telecom</a:t>
            </a:r>
            <a:r>
              <a:rPr sz="1600" spc="1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customer</a:t>
            </a:r>
            <a:r>
              <a:rPr sz="1600" spc="1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churn</a:t>
            </a:r>
            <a:r>
              <a:rPr sz="1600" spc="1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dataset</a:t>
            </a:r>
            <a:r>
              <a:rPr sz="1600" spc="16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to </a:t>
            </a:r>
            <a:r>
              <a:rPr sz="1600" spc="-10" dirty="0">
                <a:latin typeface="Calibri"/>
                <a:cs typeface="Calibri"/>
              </a:rPr>
              <a:t>visualize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analyze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key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business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insights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such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as:</a:t>
            </a:r>
            <a:endParaRPr sz="1600" dirty="0">
              <a:latin typeface="Calibri"/>
              <a:cs typeface="Calibri"/>
            </a:endParaRPr>
          </a:p>
          <a:p>
            <a:pPr marL="123825" indent="-111125" algn="just">
              <a:lnSpc>
                <a:spcPct val="100000"/>
              </a:lnSpc>
              <a:spcBef>
                <a:spcPts val="1025"/>
              </a:spcBef>
              <a:buChar char="•"/>
              <a:tabLst>
                <a:tab pos="123825" algn="l"/>
              </a:tabLst>
            </a:pPr>
            <a:r>
              <a:rPr sz="1600" dirty="0">
                <a:latin typeface="Calibri"/>
                <a:cs typeface="Calibri"/>
              </a:rPr>
              <a:t>Overall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churn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rate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churn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count</a:t>
            </a:r>
            <a:endParaRPr sz="1600" dirty="0">
              <a:latin typeface="Calibri"/>
              <a:cs typeface="Calibri"/>
            </a:endParaRPr>
          </a:p>
          <a:p>
            <a:pPr marL="123825" indent="-111125" algn="just">
              <a:lnSpc>
                <a:spcPct val="100000"/>
              </a:lnSpc>
              <a:spcBef>
                <a:spcPts val="1010"/>
              </a:spcBef>
              <a:buChar char="•"/>
              <a:tabLst>
                <a:tab pos="123825" algn="l"/>
              </a:tabLst>
            </a:pPr>
            <a:r>
              <a:rPr sz="1600" dirty="0">
                <a:latin typeface="Calibri"/>
                <a:cs typeface="Calibri"/>
              </a:rPr>
              <a:t>Churn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behavior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across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tenure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contract</a:t>
            </a:r>
            <a:r>
              <a:rPr sz="1600" spc="-20" dirty="0">
                <a:latin typeface="Calibri"/>
                <a:cs typeface="Calibri"/>
              </a:rPr>
              <a:t> types</a:t>
            </a:r>
            <a:endParaRPr sz="1600" dirty="0">
              <a:latin typeface="Calibri"/>
              <a:cs typeface="Calibri"/>
            </a:endParaRPr>
          </a:p>
          <a:p>
            <a:pPr marL="123825" indent="-111125" algn="just">
              <a:lnSpc>
                <a:spcPct val="100000"/>
              </a:lnSpc>
              <a:spcBef>
                <a:spcPts val="1020"/>
              </a:spcBef>
              <a:buChar char="•"/>
              <a:tabLst>
                <a:tab pos="123825" algn="l"/>
              </a:tabLst>
            </a:pPr>
            <a:r>
              <a:rPr sz="1600" dirty="0">
                <a:latin typeface="Calibri"/>
                <a:cs typeface="Calibri"/>
              </a:rPr>
              <a:t>Impact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billing,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payment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methods,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service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usage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churn</a:t>
            </a:r>
            <a:endParaRPr sz="1600" dirty="0">
              <a:latin typeface="Calibri"/>
              <a:cs typeface="Calibri"/>
            </a:endParaRPr>
          </a:p>
          <a:p>
            <a:pPr marL="18415" marR="5080" indent="-6350" algn="just">
              <a:lnSpc>
                <a:spcPct val="170800"/>
              </a:lnSpc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dashboard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designed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 dynamic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0" dirty="0">
                <a:latin typeface="Calibri"/>
                <a:cs typeface="Calibri"/>
              </a:rPr>
              <a:t> user-</a:t>
            </a:r>
            <a:r>
              <a:rPr sz="1600" spc="-10" dirty="0">
                <a:latin typeface="Calibri"/>
                <a:cs typeface="Calibri"/>
              </a:rPr>
              <a:t>friendly,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allowing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users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explore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through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interactive </a:t>
            </a:r>
            <a:r>
              <a:rPr sz="1600" dirty="0">
                <a:latin typeface="Calibri"/>
                <a:cs typeface="Calibri"/>
              </a:rPr>
              <a:t>slicers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visuals.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objective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present</a:t>
            </a:r>
            <a:r>
              <a:rPr sz="1600" spc="9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meaningful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insights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through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effective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visualization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and </a:t>
            </a:r>
            <a:r>
              <a:rPr sz="1600" dirty="0">
                <a:latin typeface="Calibri"/>
                <a:cs typeface="Calibri"/>
              </a:rPr>
              <a:t>analytics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techniques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 </a:t>
            </a:r>
            <a:r>
              <a:rPr sz="1600" spc="-10" dirty="0">
                <a:latin typeface="Calibri"/>
                <a:cs typeface="Calibri"/>
              </a:rPr>
              <a:t>Microsoft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Power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BI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0" dirty="0">
                <a:latin typeface="Calibri"/>
                <a:cs typeface="Calibri"/>
              </a:rPr>
              <a:t> DAX.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7536" y="1269237"/>
            <a:ext cx="6553834" cy="52120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3995" indent="-201295">
              <a:lnSpc>
                <a:spcPct val="100000"/>
              </a:lnSpc>
              <a:spcBef>
                <a:spcPts val="95"/>
              </a:spcBef>
              <a:buAutoNum type="arabicPeriod" startAt="2"/>
              <a:tabLst>
                <a:tab pos="213995" algn="l"/>
              </a:tabLst>
            </a:pPr>
            <a:r>
              <a:rPr sz="2000" b="1" dirty="0">
                <a:latin typeface="Times New Roman"/>
                <a:cs typeface="Times New Roman"/>
              </a:rPr>
              <a:t>Source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Dataset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5"/>
              </a:spcBef>
              <a:buFont typeface="Times New Roman"/>
              <a:buAutoNum type="arabicPeriod" startAt="2"/>
            </a:pPr>
            <a:endParaRPr sz="1600" dirty="0">
              <a:latin typeface="Times New Roman"/>
              <a:cs typeface="Times New Roman"/>
            </a:endParaRPr>
          </a:p>
          <a:p>
            <a:pPr marL="30480" marR="27305">
              <a:lnSpc>
                <a:spcPct val="103299"/>
              </a:lnSpc>
            </a:pP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dataset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used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project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publicly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available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telecom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customer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churn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dataset,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commonly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used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for </a:t>
            </a:r>
            <a:r>
              <a:rPr sz="1600" dirty="0">
                <a:latin typeface="Times New Roman"/>
                <a:cs typeface="Times New Roman"/>
              </a:rPr>
              <a:t>customer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behavior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retention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analysis.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contains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detailed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information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related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customer</a:t>
            </a:r>
            <a:endParaRPr sz="1600" dirty="0">
              <a:latin typeface="Times New Roman"/>
              <a:cs typeface="Times New Roman"/>
            </a:endParaRPr>
          </a:p>
          <a:p>
            <a:pPr marL="30480">
              <a:lnSpc>
                <a:spcPct val="100000"/>
              </a:lnSpc>
              <a:spcBef>
                <a:spcPts val="50"/>
              </a:spcBef>
            </a:pPr>
            <a:r>
              <a:rPr sz="1600" spc="-10" dirty="0">
                <a:latin typeface="Times New Roman"/>
                <a:cs typeface="Times New Roman"/>
              </a:rPr>
              <a:t>demographics,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service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subscriptions,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billing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details,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churn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status.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3048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Times New Roman"/>
                <a:cs typeface="Times New Roman"/>
              </a:rPr>
              <a:t>Dataset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Features:</a:t>
            </a:r>
            <a:endParaRPr sz="1600" dirty="0">
              <a:latin typeface="Times New Roman"/>
              <a:cs typeface="Times New Roman"/>
            </a:endParaRPr>
          </a:p>
          <a:p>
            <a:pPr marL="121285" lvl="1" indent="-90805">
              <a:lnSpc>
                <a:spcPct val="100000"/>
              </a:lnSpc>
              <a:spcBef>
                <a:spcPts val="190"/>
              </a:spcBef>
              <a:buChar char="•"/>
              <a:tabLst>
                <a:tab pos="121285" algn="l"/>
              </a:tabLst>
            </a:pPr>
            <a:r>
              <a:rPr sz="1600" dirty="0">
                <a:latin typeface="Times New Roman"/>
                <a:cs typeface="Times New Roman"/>
              </a:rPr>
              <a:t>Contains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individual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customer-</a:t>
            </a:r>
            <a:r>
              <a:rPr sz="1600" dirty="0">
                <a:latin typeface="Times New Roman"/>
                <a:cs typeface="Times New Roman"/>
              </a:rPr>
              <a:t>level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records</a:t>
            </a:r>
            <a:endParaRPr sz="1600" dirty="0">
              <a:latin typeface="Times New Roman"/>
              <a:cs typeface="Times New Roman"/>
            </a:endParaRPr>
          </a:p>
          <a:p>
            <a:pPr marL="121285" lvl="1" indent="-90805">
              <a:lnSpc>
                <a:spcPct val="100000"/>
              </a:lnSpc>
              <a:spcBef>
                <a:spcPts val="204"/>
              </a:spcBef>
              <a:buChar char="•"/>
              <a:tabLst>
                <a:tab pos="121285" algn="l"/>
              </a:tabLst>
            </a:pPr>
            <a:r>
              <a:rPr sz="1600" spc="-10" dirty="0">
                <a:latin typeface="Times New Roman"/>
                <a:cs typeface="Times New Roman"/>
              </a:rPr>
              <a:t>Includes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demographic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such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gender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senior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citizen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status</a:t>
            </a:r>
            <a:endParaRPr sz="1600" dirty="0">
              <a:latin typeface="Times New Roman"/>
              <a:cs typeface="Times New Roman"/>
            </a:endParaRPr>
          </a:p>
          <a:p>
            <a:pPr marL="121285" lvl="1" indent="-90805">
              <a:lnSpc>
                <a:spcPct val="100000"/>
              </a:lnSpc>
              <a:spcBef>
                <a:spcPts val="195"/>
              </a:spcBef>
              <a:buChar char="•"/>
              <a:tabLst>
                <a:tab pos="121285" algn="l"/>
              </a:tabLst>
            </a:pPr>
            <a:r>
              <a:rPr sz="1600" dirty="0">
                <a:latin typeface="Times New Roman"/>
                <a:cs typeface="Times New Roman"/>
              </a:rPr>
              <a:t>Covers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service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usage,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contract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types,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payment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methods,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billing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details</a:t>
            </a:r>
            <a:endParaRPr sz="1600" dirty="0">
              <a:latin typeface="Times New Roman"/>
              <a:cs typeface="Times New Roman"/>
            </a:endParaRPr>
          </a:p>
          <a:p>
            <a:pPr marL="121285" lvl="1" indent="-90805">
              <a:lnSpc>
                <a:spcPct val="100000"/>
              </a:lnSpc>
              <a:spcBef>
                <a:spcPts val="190"/>
              </a:spcBef>
              <a:buChar char="•"/>
              <a:tabLst>
                <a:tab pos="121285" algn="l"/>
              </a:tabLst>
            </a:pPr>
            <a:r>
              <a:rPr sz="1600" spc="-10" dirty="0">
                <a:latin typeface="Times New Roman"/>
                <a:cs typeface="Times New Roman"/>
              </a:rPr>
              <a:t>Includes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churn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information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(Yes/No)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analysis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30480" marR="5080">
              <a:lnSpc>
                <a:spcPct val="103299"/>
              </a:lnSpc>
              <a:spcBef>
                <a:spcPts val="5"/>
              </a:spcBef>
            </a:pP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dataset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suitable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analyzing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customer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retention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patterns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identifying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key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factors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contributing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 </a:t>
            </a:r>
            <a:r>
              <a:rPr sz="1600" spc="-10" dirty="0">
                <a:latin typeface="Times New Roman"/>
                <a:cs typeface="Times New Roman"/>
              </a:rPr>
              <a:t>churn.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3048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Dataset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Link:</a:t>
            </a:r>
            <a:endParaRPr sz="1600" dirty="0">
              <a:latin typeface="Times New Roman"/>
              <a:cs typeface="Times New Roman"/>
            </a:endParaRPr>
          </a:p>
          <a:p>
            <a:pPr marL="30480">
              <a:lnSpc>
                <a:spcPct val="100000"/>
              </a:lnSpc>
              <a:spcBef>
                <a:spcPts val="480"/>
              </a:spcBef>
            </a:pPr>
            <a:r>
              <a:rPr sz="1600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2"/>
              </a:rPr>
              <a:t>https://github.com/KimathiNewton/Telco-Customer-Churn/blob/master/Datasets/telco_churn.csv</a:t>
            </a:r>
            <a:endParaRPr sz="1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0084" y="803563"/>
            <a:ext cx="6786245" cy="433451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200025">
              <a:lnSpc>
                <a:spcPct val="100000"/>
              </a:lnSpc>
              <a:spcBef>
                <a:spcPts val="229"/>
              </a:spcBef>
            </a:pPr>
            <a:r>
              <a:rPr sz="2000" b="1" dirty="0">
                <a:latin typeface="Times New Roman"/>
                <a:cs typeface="Times New Roman"/>
              </a:rPr>
              <a:t>3.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Dataset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Preprocessing</a:t>
            </a:r>
            <a:endParaRPr lang="en-US" sz="2000" b="1" spc="-10" dirty="0">
              <a:latin typeface="Times New Roman"/>
              <a:cs typeface="Times New Roman"/>
            </a:endParaRPr>
          </a:p>
          <a:p>
            <a:pPr marL="200025">
              <a:lnSpc>
                <a:spcPct val="100000"/>
              </a:lnSpc>
              <a:spcBef>
                <a:spcPts val="229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05"/>
              </a:spcBef>
            </a:pPr>
            <a:r>
              <a:rPr sz="1600" spc="-10" dirty="0">
                <a:latin typeface="Times New Roman"/>
                <a:cs typeface="Times New Roman"/>
              </a:rPr>
              <a:t>Before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creating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the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dashboard,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the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dataset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was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preprocessed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using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Power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BI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basic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data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cleaning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techniques: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65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03505" indent="-90805">
              <a:lnSpc>
                <a:spcPct val="100000"/>
              </a:lnSpc>
              <a:buChar char="•"/>
              <a:tabLst>
                <a:tab pos="103505" algn="l"/>
              </a:tabLst>
            </a:pPr>
            <a:r>
              <a:rPr sz="1600" dirty="0">
                <a:latin typeface="Times New Roman"/>
                <a:cs typeface="Times New Roman"/>
              </a:rPr>
              <a:t>Removed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unnecessary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irrelevant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columns</a:t>
            </a:r>
            <a:endParaRPr sz="1600" dirty="0">
              <a:latin typeface="Times New Roman"/>
              <a:cs typeface="Times New Roman"/>
            </a:endParaRPr>
          </a:p>
          <a:p>
            <a:pPr marL="103505" indent="-90805">
              <a:lnSpc>
                <a:spcPct val="100000"/>
              </a:lnSpc>
              <a:spcBef>
                <a:spcPts val="660"/>
              </a:spcBef>
              <a:buChar char="•"/>
              <a:tabLst>
                <a:tab pos="103505" algn="l"/>
              </a:tabLst>
            </a:pPr>
            <a:r>
              <a:rPr sz="1600" spc="-10" dirty="0">
                <a:latin typeface="Times New Roman"/>
                <a:cs typeface="Times New Roman"/>
              </a:rPr>
              <a:t>Standardized </a:t>
            </a:r>
            <a:r>
              <a:rPr sz="1600" dirty="0">
                <a:latin typeface="Times New Roman"/>
                <a:cs typeface="Times New Roman"/>
              </a:rPr>
              <a:t>column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names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10" dirty="0">
                <a:latin typeface="Times New Roman"/>
                <a:cs typeface="Times New Roman"/>
              </a:rPr>
              <a:t> clarity</a:t>
            </a:r>
            <a:endParaRPr sz="1600" dirty="0">
              <a:latin typeface="Times New Roman"/>
              <a:cs typeface="Times New Roman"/>
            </a:endParaRPr>
          </a:p>
          <a:p>
            <a:pPr marL="103505" indent="-90805">
              <a:lnSpc>
                <a:spcPct val="100000"/>
              </a:lnSpc>
              <a:spcBef>
                <a:spcPts val="650"/>
              </a:spcBef>
              <a:buChar char="•"/>
              <a:tabLst>
                <a:tab pos="103505" algn="l"/>
              </a:tabLst>
            </a:pPr>
            <a:r>
              <a:rPr sz="1600" dirty="0">
                <a:latin typeface="Times New Roman"/>
                <a:cs typeface="Times New Roman"/>
              </a:rPr>
              <a:t>Ensured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correct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types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numerical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fields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such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tenure,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monthly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charges,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total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charges</a:t>
            </a:r>
            <a:endParaRPr sz="1600" dirty="0">
              <a:latin typeface="Times New Roman"/>
              <a:cs typeface="Times New Roman"/>
            </a:endParaRPr>
          </a:p>
          <a:p>
            <a:pPr marL="103505" indent="-90805">
              <a:lnSpc>
                <a:spcPct val="100000"/>
              </a:lnSpc>
              <a:spcBef>
                <a:spcPts val="660"/>
              </a:spcBef>
              <a:buChar char="•"/>
              <a:tabLst>
                <a:tab pos="103505" algn="l"/>
              </a:tabLst>
            </a:pPr>
            <a:r>
              <a:rPr sz="1600" dirty="0">
                <a:latin typeface="Times New Roman"/>
                <a:cs typeface="Times New Roman"/>
              </a:rPr>
              <a:t>Handled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missing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inconsistent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values</a:t>
            </a:r>
            <a:endParaRPr sz="1600" dirty="0">
              <a:latin typeface="Times New Roman"/>
              <a:cs typeface="Times New Roman"/>
            </a:endParaRPr>
          </a:p>
          <a:p>
            <a:pPr marL="100965" indent="-88265">
              <a:lnSpc>
                <a:spcPct val="100000"/>
              </a:lnSpc>
              <a:spcBef>
                <a:spcPts val="645"/>
              </a:spcBef>
              <a:buChar char="•"/>
              <a:tabLst>
                <a:tab pos="100965" algn="l"/>
              </a:tabLst>
            </a:pPr>
            <a:r>
              <a:rPr sz="1600" spc="-20" dirty="0">
                <a:latin typeface="Times New Roman"/>
                <a:cs typeface="Times New Roman"/>
              </a:rPr>
              <a:t>Verified </a:t>
            </a:r>
            <a:r>
              <a:rPr sz="1600" spc="-10" dirty="0">
                <a:latin typeface="Times New Roman"/>
                <a:cs typeface="Times New Roman"/>
              </a:rPr>
              <a:t>categorical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fields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like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contract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type,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payment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method,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churn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status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1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2700" marR="5715">
              <a:lnSpc>
                <a:spcPct val="104200"/>
              </a:lnSpc>
              <a:spcBef>
                <a:spcPts val="5"/>
              </a:spcBef>
            </a:pPr>
            <a:r>
              <a:rPr sz="1600" dirty="0">
                <a:latin typeface="Times New Roman"/>
                <a:cs typeface="Times New Roman"/>
              </a:rPr>
              <a:t>All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preprocessing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was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performed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using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Power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BI’s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built-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transformation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tools,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without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using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external scripts.</a:t>
            </a:r>
            <a:endParaRPr sz="1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0940" y="702055"/>
            <a:ext cx="6655434" cy="51596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3200" indent="-190500">
              <a:lnSpc>
                <a:spcPct val="100000"/>
              </a:lnSpc>
              <a:spcBef>
                <a:spcPts val="95"/>
              </a:spcBef>
              <a:buAutoNum type="arabicPeriod" startAt="4"/>
              <a:tabLst>
                <a:tab pos="203200" algn="l"/>
              </a:tabLst>
            </a:pPr>
            <a:r>
              <a:rPr sz="2000" b="1" dirty="0">
                <a:latin typeface="Times New Roman"/>
                <a:cs typeface="Times New Roman"/>
              </a:rPr>
              <a:t>Analysis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on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Dataset(For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each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Objective)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4"/>
              </a:spcBef>
              <a:buFont typeface="Times New Roman"/>
              <a:buAutoNum type="arabicPeriod" startAt="4"/>
            </a:pPr>
            <a:endParaRPr sz="1600" dirty="0">
              <a:latin typeface="Times New Roman"/>
              <a:cs typeface="Times New Roman"/>
            </a:endParaRPr>
          </a:p>
          <a:p>
            <a:pPr marL="21590">
              <a:lnSpc>
                <a:spcPct val="100000"/>
              </a:lnSpc>
            </a:pPr>
            <a:r>
              <a:rPr sz="1600" b="1" dirty="0">
                <a:latin typeface="Times New Roman"/>
                <a:cs typeface="Times New Roman"/>
              </a:rPr>
              <a:t>Objective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1: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Customer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Demographics</a:t>
            </a:r>
            <a:r>
              <a:rPr sz="1600" b="1" spc="-7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Analysis</a:t>
            </a:r>
            <a:endParaRPr sz="1600" dirty="0">
              <a:latin typeface="Times New Roman"/>
              <a:cs typeface="Times New Roman"/>
            </a:endParaRPr>
          </a:p>
          <a:p>
            <a:pPr marL="139700" lvl="1" indent="-118110">
              <a:lnSpc>
                <a:spcPct val="100000"/>
              </a:lnSpc>
              <a:spcBef>
                <a:spcPts val="505"/>
              </a:spcBef>
              <a:buAutoNum type="romanLcPeriod"/>
              <a:tabLst>
                <a:tab pos="139700" algn="l"/>
              </a:tabLst>
            </a:pPr>
            <a:r>
              <a:rPr sz="1600" b="1" dirty="0">
                <a:latin typeface="Times New Roman"/>
                <a:cs typeface="Times New Roman"/>
              </a:rPr>
              <a:t>General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Description:</a:t>
            </a:r>
            <a:endParaRPr sz="1600" dirty="0">
              <a:latin typeface="Times New Roman"/>
              <a:cs typeface="Times New Roman"/>
            </a:endParaRPr>
          </a:p>
          <a:p>
            <a:pPr marL="21590" marR="299085">
              <a:lnSpc>
                <a:spcPct val="104200"/>
              </a:lnSpc>
              <a:spcBef>
                <a:spcPts val="440"/>
              </a:spcBef>
            </a:pPr>
            <a:r>
              <a:rPr lang="en-US" sz="1600" spc="-10" dirty="0">
                <a:latin typeface="Times New Roman"/>
                <a:cs typeface="Times New Roman"/>
              </a:rPr>
              <a:t>To analyze the relationship between customer tenure, monthly spending, and total revenue, and to identify churn-prone customers who contribute high revenue but have low tenure, indicating potential revenue risk.</a:t>
            </a:r>
            <a:endParaRPr sz="1600" dirty="0">
              <a:latin typeface="Times New Roman"/>
              <a:cs typeface="Times New Roman"/>
            </a:endParaRPr>
          </a:p>
          <a:p>
            <a:pPr marL="182245" lvl="1" indent="-160655">
              <a:lnSpc>
                <a:spcPct val="100000"/>
              </a:lnSpc>
              <a:spcBef>
                <a:spcPts val="505"/>
              </a:spcBef>
              <a:buAutoNum type="romanLcPeriod" startAt="2"/>
              <a:tabLst>
                <a:tab pos="182245" algn="l"/>
              </a:tabLst>
            </a:pPr>
            <a:r>
              <a:rPr sz="1600" b="1" dirty="0">
                <a:latin typeface="Times New Roman"/>
                <a:cs typeface="Times New Roman"/>
              </a:rPr>
              <a:t>Specific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Requirements:</a:t>
            </a:r>
            <a:endParaRPr sz="1600" dirty="0">
              <a:latin typeface="Times New Roman"/>
              <a:cs typeface="Times New Roman"/>
            </a:endParaRPr>
          </a:p>
          <a:p>
            <a:pPr marL="112395" lvl="2" indent="-90805">
              <a:lnSpc>
                <a:spcPct val="100000"/>
              </a:lnSpc>
              <a:spcBef>
                <a:spcPts val="505"/>
              </a:spcBef>
              <a:buChar char="•"/>
              <a:tabLst>
                <a:tab pos="112395" algn="l"/>
              </a:tabLst>
            </a:pPr>
            <a:r>
              <a:rPr sz="1600" dirty="0">
                <a:latin typeface="Times New Roman"/>
                <a:cs typeface="Times New Roman"/>
              </a:rPr>
              <a:t>Identify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major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customer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groups</a:t>
            </a:r>
            <a:endParaRPr sz="1600" dirty="0">
              <a:latin typeface="Times New Roman"/>
              <a:cs typeface="Times New Roman"/>
            </a:endParaRPr>
          </a:p>
          <a:p>
            <a:pPr marL="112395" lvl="2" indent="-90805">
              <a:lnSpc>
                <a:spcPct val="100000"/>
              </a:lnSpc>
              <a:spcBef>
                <a:spcPts val="45"/>
              </a:spcBef>
              <a:buChar char="•"/>
              <a:tabLst>
                <a:tab pos="112395" algn="l"/>
              </a:tabLst>
            </a:pPr>
            <a:r>
              <a:rPr sz="1600" dirty="0">
                <a:latin typeface="Times New Roman"/>
                <a:cs typeface="Times New Roman"/>
              </a:rPr>
              <a:t>Understand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which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demographic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segments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form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largest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portion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customers</a:t>
            </a:r>
            <a:endParaRPr sz="1600" dirty="0">
              <a:latin typeface="Times New Roman"/>
              <a:cs typeface="Times New Roman"/>
            </a:endParaRPr>
          </a:p>
          <a:p>
            <a:pPr marL="215900" indent="-194310">
              <a:lnSpc>
                <a:spcPct val="100000"/>
              </a:lnSpc>
              <a:spcBef>
                <a:spcPts val="505"/>
              </a:spcBef>
              <a:buAutoNum type="romanLcPeriod" startAt="3"/>
              <a:tabLst>
                <a:tab pos="215900" algn="l"/>
              </a:tabLst>
            </a:pPr>
            <a:r>
              <a:rPr sz="1600" b="1" dirty="0">
                <a:latin typeface="Times New Roman"/>
                <a:cs typeface="Times New Roman"/>
              </a:rPr>
              <a:t>Analysis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Results:</a:t>
            </a:r>
            <a:endParaRPr sz="1600" dirty="0">
              <a:latin typeface="Times New Roman"/>
              <a:cs typeface="Times New Roman"/>
            </a:endParaRPr>
          </a:p>
          <a:p>
            <a:pPr marL="21590" marR="5080">
              <a:lnSpc>
                <a:spcPct val="103499"/>
              </a:lnSpc>
              <a:spcBef>
                <a:spcPts val="455"/>
              </a:spcBef>
            </a:pP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analysis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shows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majority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customers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belong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specific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demographic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segments,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noticeable differences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churn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behavior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across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tenure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groups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customer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categories.</a:t>
            </a:r>
            <a:endParaRPr sz="1600" dirty="0">
              <a:latin typeface="Times New Roman"/>
              <a:cs typeface="Times New Roman"/>
            </a:endParaRPr>
          </a:p>
          <a:p>
            <a:pPr marL="21590">
              <a:lnSpc>
                <a:spcPct val="100000"/>
              </a:lnSpc>
              <a:spcBef>
                <a:spcPts val="505"/>
              </a:spcBef>
            </a:pPr>
            <a:r>
              <a:rPr sz="1600" dirty="0">
                <a:latin typeface="Times New Roman"/>
                <a:cs typeface="Times New Roman"/>
              </a:rPr>
              <a:t>Certain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customer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segments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show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higher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tendency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churn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compared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others.</a:t>
            </a:r>
            <a:endParaRPr sz="1600" dirty="0">
              <a:latin typeface="Times New Roman"/>
              <a:cs typeface="Times New Roman"/>
            </a:endParaRPr>
          </a:p>
          <a:p>
            <a:pPr marL="203835" indent="-182245">
              <a:lnSpc>
                <a:spcPct val="100000"/>
              </a:lnSpc>
              <a:spcBef>
                <a:spcPts val="505"/>
              </a:spcBef>
              <a:buAutoNum type="romanLcPeriod" startAt="4"/>
              <a:tabLst>
                <a:tab pos="203835" algn="l"/>
              </a:tabLst>
            </a:pPr>
            <a:r>
              <a:rPr sz="1600" b="1" spc="-10" dirty="0">
                <a:latin typeface="Times New Roman"/>
                <a:cs typeface="Times New Roman"/>
              </a:rPr>
              <a:t>Visualization:</a:t>
            </a:r>
            <a:endParaRPr sz="1600" dirty="0">
              <a:latin typeface="Times New Roman"/>
              <a:cs typeface="Times New Roman"/>
            </a:endParaRPr>
          </a:p>
          <a:p>
            <a:pPr marL="21590" marR="459105">
              <a:lnSpc>
                <a:spcPct val="103299"/>
              </a:lnSpc>
              <a:spcBef>
                <a:spcPts val="455"/>
              </a:spcBef>
            </a:pPr>
            <a:r>
              <a:rPr sz="1600" dirty="0">
                <a:latin typeface="Times New Roman"/>
                <a:cs typeface="Times New Roman"/>
              </a:rPr>
              <a:t>KPI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cards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categorical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charts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were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used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summarize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demographic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distribution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highlight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key </a:t>
            </a:r>
            <a:r>
              <a:rPr sz="1600" dirty="0">
                <a:latin typeface="Times New Roman"/>
                <a:cs typeface="Times New Roman"/>
              </a:rPr>
              <a:t>customer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segments.</a:t>
            </a:r>
            <a:endParaRPr sz="16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940" y="6032500"/>
            <a:ext cx="6429375" cy="41921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75130" y="9802367"/>
            <a:ext cx="499771" cy="6095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0604" y="5499101"/>
            <a:ext cx="6448267" cy="404723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71520" y="4346447"/>
            <a:ext cx="542434" cy="6705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4036" y="469391"/>
            <a:ext cx="6417793" cy="472490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324697" y="8383523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0" y="0"/>
                </a:moveTo>
                <a:lnTo>
                  <a:pt x="246838" y="0"/>
                </a:lnTo>
              </a:path>
            </a:pathLst>
          </a:custGeom>
          <a:ln w="9144">
            <a:solidFill>
              <a:srgbClr val="5454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7385" y="602488"/>
            <a:ext cx="50228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127" baseline="2136" dirty="0">
                <a:solidFill>
                  <a:srgbClr val="1A1A1A"/>
                </a:solidFill>
                <a:latin typeface="Arial MT"/>
                <a:cs typeface="Arial MT"/>
              </a:rPr>
              <a:t>6S.95</a:t>
            </a:r>
            <a:r>
              <a:rPr sz="1300" spc="-85" dirty="0">
                <a:solidFill>
                  <a:srgbClr val="1A1A1A"/>
                </a:solidFill>
                <a:latin typeface="Arial MT"/>
                <a:cs typeface="Arial MT"/>
              </a:rPr>
              <a:t>K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51705" y="593343"/>
            <a:ext cx="37655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95" dirty="0">
                <a:solidFill>
                  <a:srgbClr val="313131"/>
                </a:solidFill>
                <a:latin typeface="Arial MT"/>
                <a:cs typeface="Arial MT"/>
              </a:rPr>
              <a:t>76.07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26867" y="593343"/>
            <a:ext cx="26225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95" dirty="0">
                <a:solidFill>
                  <a:srgbClr val="414141"/>
                </a:solidFill>
                <a:latin typeface="Arial MT"/>
                <a:cs typeface="Arial MT"/>
              </a:rPr>
              <a:t>867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05418" y="7998798"/>
            <a:ext cx="3429635" cy="44894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000" spc="-120" dirty="0">
                <a:solidFill>
                  <a:srgbClr val="1C1C1C"/>
                </a:solidFill>
                <a:latin typeface="Arial MT"/>
                <a:cs typeface="Arial MT"/>
              </a:rPr>
              <a:t>O8JECTIVE•</a:t>
            </a:r>
            <a:r>
              <a:rPr sz="1000" spc="-11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1000" spc="-25" dirty="0">
                <a:solidFill>
                  <a:srgbClr val="565656"/>
                </a:solidFill>
                <a:latin typeface="Arial MT"/>
                <a:cs typeface="Arial MT"/>
              </a:rPr>
              <a:t>:</a:t>
            </a:r>
            <a:endParaRPr sz="1000">
              <a:latin typeface="Arial MT"/>
              <a:cs typeface="Arial MT"/>
            </a:endParaRPr>
          </a:p>
          <a:p>
            <a:pPr marL="386715" marR="5080" indent="-370840">
              <a:lnSpc>
                <a:spcPct val="109300"/>
              </a:lnSpc>
              <a:spcBef>
                <a:spcPts val="20"/>
              </a:spcBef>
            </a:pPr>
            <a:r>
              <a:rPr sz="750" spc="-100" dirty="0">
                <a:solidFill>
                  <a:srgbClr val="242424"/>
                </a:solidFill>
                <a:latin typeface="Arial MT"/>
                <a:cs typeface="Arial MT"/>
              </a:rPr>
              <a:t>To</a:t>
            </a:r>
            <a:r>
              <a:rPr sz="750" spc="-1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750" spc="-25" dirty="0">
                <a:solidFill>
                  <a:srgbClr val="333333"/>
                </a:solidFill>
                <a:latin typeface="Arial MT"/>
                <a:cs typeface="Arial MT"/>
              </a:rPr>
              <a:t>analyze</a:t>
            </a:r>
            <a:r>
              <a:rPr sz="750" spc="6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50" spc="-105" dirty="0">
                <a:solidFill>
                  <a:srgbClr val="3F3F3F"/>
                </a:solidFill>
                <a:latin typeface="Arial MT"/>
                <a:cs typeface="Arial MT"/>
              </a:rPr>
              <a:t>£he</a:t>
            </a:r>
            <a:r>
              <a:rPr sz="75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2D2D2D"/>
                </a:solidFill>
                <a:latin typeface="Arial MT"/>
                <a:cs typeface="Arial MT"/>
              </a:rPr>
              <a:t>relationship</a:t>
            </a:r>
            <a:r>
              <a:rPr sz="750" spc="3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750" spc="-30" dirty="0">
                <a:solidFill>
                  <a:srgbClr val="242424"/>
                </a:solidFill>
                <a:latin typeface="Arial MT"/>
                <a:cs typeface="Arial MT"/>
              </a:rPr>
              <a:t>bMv/een</a:t>
            </a:r>
            <a:r>
              <a:rPr sz="750" spc="-1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750" spc="-55" dirty="0">
                <a:solidFill>
                  <a:srgbClr val="1D1D1D"/>
                </a:solidFill>
                <a:latin typeface="Arial MT"/>
                <a:cs typeface="Arial MT"/>
              </a:rPr>
              <a:t>Ectstomer</a:t>
            </a:r>
            <a:r>
              <a:rPr sz="750" spc="13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750" spc="-55" dirty="0">
                <a:solidFill>
                  <a:srgbClr val="484848"/>
                </a:solidFill>
                <a:latin typeface="Arial MT"/>
                <a:cs typeface="Arial MT"/>
              </a:rPr>
              <a:t>Lenure.</a:t>
            </a:r>
            <a:r>
              <a:rPr sz="750" spc="-30" dirty="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111111"/>
                </a:solidFill>
                <a:latin typeface="Arial MT"/>
                <a:cs typeface="Arial MT"/>
              </a:rPr>
              <a:t>mol thly</a:t>
            </a:r>
            <a:r>
              <a:rPr sz="750" spc="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750" spc="-25" dirty="0">
                <a:solidFill>
                  <a:srgbClr val="262626"/>
                </a:solidFill>
                <a:latin typeface="Arial MT"/>
                <a:cs typeface="Arial MT"/>
              </a:rPr>
              <a:t>spending.</a:t>
            </a:r>
            <a:r>
              <a:rPr sz="750" spc="-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750" spc="-60" dirty="0">
                <a:solidFill>
                  <a:srgbClr val="3F3F3F"/>
                </a:solidFill>
                <a:latin typeface="Arial MT"/>
                <a:cs typeface="Arial MT"/>
              </a:rPr>
              <a:t>auld</a:t>
            </a:r>
            <a:r>
              <a:rPr sz="750" spc="65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464646"/>
                </a:solidFill>
                <a:latin typeface="Arial MT"/>
                <a:cs typeface="Arial MT"/>
              </a:rPr>
              <a:t>urtal </a:t>
            </a:r>
            <a:r>
              <a:rPr sz="750" spc="-25" dirty="0">
                <a:solidFill>
                  <a:srgbClr val="282828"/>
                </a:solidFill>
                <a:latin typeface="Arial MT"/>
                <a:cs typeface="Arial MT"/>
              </a:rPr>
              <a:t>and</a:t>
            </a:r>
            <a:r>
              <a:rPr sz="750" spc="-3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1F1F1F"/>
                </a:solidFill>
                <a:latin typeface="Arial MT"/>
                <a:cs typeface="Arial MT"/>
              </a:rPr>
              <a:t>to</a:t>
            </a:r>
            <a:r>
              <a:rPr sz="750" spc="2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212121"/>
                </a:solidFill>
                <a:latin typeface="Arial MT"/>
                <a:cs typeface="Arial MT"/>
              </a:rPr>
              <a:t>identify</a:t>
            </a:r>
            <a:r>
              <a:rPr sz="750" spc="-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2B2B2B"/>
                </a:solidFill>
                <a:latin typeface="Arial MT"/>
                <a:cs typeface="Arial MT"/>
              </a:rPr>
              <a:t>churn</a:t>
            </a:r>
            <a:r>
              <a:rPr sz="750" spc="30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2F2F2F"/>
                </a:solidFill>
                <a:latin typeface="Arial MT"/>
                <a:cs typeface="Arial MT"/>
              </a:rPr>
              <a:t>prone</a:t>
            </a:r>
            <a:r>
              <a:rPr sz="750" spc="4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750" spc="-30" dirty="0">
                <a:solidFill>
                  <a:srgbClr val="1F1F1F"/>
                </a:solidFill>
                <a:latin typeface="Arial MT"/>
                <a:cs typeface="Arial MT"/>
              </a:rPr>
              <a:t>custo,</a:t>
            </a:r>
            <a:r>
              <a:rPr sz="750" spc="-5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727272"/>
                </a:solidFill>
                <a:latin typeface="Arial MT"/>
                <a:cs typeface="Arial MT"/>
              </a:rPr>
              <a:t>'</a:t>
            </a:r>
            <a:r>
              <a:rPr sz="750" spc="260" dirty="0">
                <a:solidFill>
                  <a:srgbClr val="727272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63636"/>
                </a:solidFill>
                <a:latin typeface="Arial MT"/>
                <a:cs typeface="Arial MT"/>
              </a:rPr>
              <a:t>.'</a:t>
            </a:r>
            <a:r>
              <a:rPr sz="750" spc="37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50" spc="-35" dirty="0">
                <a:solidFill>
                  <a:srgbClr val="212121"/>
                </a:solidFill>
                <a:latin typeface="Arial MT"/>
                <a:cs typeface="Arial MT"/>
              </a:rPr>
              <a:t>who</a:t>
            </a:r>
            <a:r>
              <a:rPr sz="750" spc="-2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750" spc="-40" dirty="0">
                <a:solidFill>
                  <a:srgbClr val="2F2F2F"/>
                </a:solidFill>
                <a:latin typeface="Arial MT"/>
                <a:cs typeface="Arial MT"/>
              </a:rPr>
              <a:t>co¥ttr</a:t>
            </a:r>
            <a:r>
              <a:rPr sz="750" spc="-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161616"/>
                </a:solidFill>
                <a:latin typeface="Arial MT"/>
                <a:cs typeface="Arial MT"/>
              </a:rPr>
              <a:t>bute</a:t>
            </a:r>
            <a:r>
              <a:rPr sz="750" spc="-2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212121"/>
                </a:solidFill>
                <a:latin typeface="Arial MT"/>
                <a:cs typeface="Arial MT"/>
              </a:rPr>
              <a:t>triqh</a:t>
            </a:r>
            <a:r>
              <a:rPr sz="750" spc="2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750" spc="-35" dirty="0">
                <a:solidFill>
                  <a:srgbClr val="1C1C1C"/>
                </a:solidFill>
                <a:latin typeface="Arial MT"/>
                <a:cs typeface="Arial MT"/>
              </a:rPr>
              <a:t>revenue</a:t>
            </a:r>
            <a:r>
              <a:rPr sz="750" spc="-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83838"/>
                </a:solidFill>
                <a:latin typeface="Arial MT"/>
                <a:cs typeface="Arial MT"/>
              </a:rPr>
              <a:t>but</a:t>
            </a:r>
            <a:r>
              <a:rPr sz="750" spc="20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750" spc="-25" dirty="0">
                <a:solidFill>
                  <a:srgbClr val="666666"/>
                </a:solidFill>
                <a:latin typeface="Arial MT"/>
                <a:cs typeface="Arial MT"/>
              </a:rPr>
              <a:t>tu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8711" y="599440"/>
            <a:ext cx="38227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210" dirty="0">
                <a:solidFill>
                  <a:srgbClr val="1C1C1C"/>
                </a:solidFill>
                <a:latin typeface="Courier New"/>
                <a:cs typeface="Courier New"/>
              </a:rPr>
              <a:t>Z5.96</a:t>
            </a:r>
            <a:endParaRPr sz="1300">
              <a:latin typeface="Courier New"/>
              <a:cs typeface="Courier New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1796" y="446023"/>
            <a:ext cx="6765290" cy="47766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Objective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2: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Overall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Churn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Analysis</a:t>
            </a:r>
            <a:endParaRPr sz="2000" dirty="0">
              <a:latin typeface="Times New Roman"/>
              <a:cs typeface="Times New Roman"/>
            </a:endParaRPr>
          </a:p>
          <a:p>
            <a:pPr marL="130810" indent="-118110">
              <a:lnSpc>
                <a:spcPct val="100000"/>
              </a:lnSpc>
              <a:spcBef>
                <a:spcPts val="1185"/>
              </a:spcBef>
              <a:buAutoNum type="romanLcPeriod"/>
              <a:tabLst>
                <a:tab pos="130810" algn="l"/>
              </a:tabLst>
            </a:pPr>
            <a:r>
              <a:rPr sz="1600" b="1" dirty="0">
                <a:latin typeface="Times New Roman"/>
                <a:cs typeface="Times New Roman"/>
              </a:rPr>
              <a:t>General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Description:</a:t>
            </a:r>
            <a:endParaRPr sz="1600" dirty="0">
              <a:latin typeface="Times New Roman"/>
              <a:cs typeface="Times New Roman"/>
            </a:endParaRPr>
          </a:p>
          <a:p>
            <a:pPr marL="12700" marR="81280">
              <a:lnSpc>
                <a:spcPct val="103299"/>
              </a:lnSpc>
              <a:spcBef>
                <a:spcPts val="1145"/>
              </a:spcBef>
            </a:pPr>
            <a:r>
              <a:rPr lang="en-US" sz="1600" spc="-10" dirty="0">
                <a:latin typeface="Times New Roman"/>
                <a:cs typeface="Times New Roman"/>
              </a:rPr>
              <a:t>To visualize the proportion of churned vs retained customers, helping management understand the overall churn distribution and the severity of customer attrition at a glance.</a:t>
            </a:r>
            <a:endParaRPr sz="1600" dirty="0">
              <a:latin typeface="Times New Roman"/>
              <a:cs typeface="Times New Roman"/>
            </a:endParaRPr>
          </a:p>
          <a:p>
            <a:pPr marL="173355" indent="-160655">
              <a:lnSpc>
                <a:spcPct val="100000"/>
              </a:lnSpc>
              <a:spcBef>
                <a:spcPts val="1185"/>
              </a:spcBef>
              <a:buAutoNum type="romanLcPeriod" startAt="2"/>
              <a:tabLst>
                <a:tab pos="173355" algn="l"/>
              </a:tabLst>
            </a:pPr>
            <a:r>
              <a:rPr sz="1600" b="1" dirty="0">
                <a:latin typeface="Times New Roman"/>
                <a:cs typeface="Times New Roman"/>
              </a:rPr>
              <a:t>Specific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Requirements:</a:t>
            </a:r>
            <a:endParaRPr sz="1600" dirty="0">
              <a:latin typeface="Times New Roman"/>
              <a:cs typeface="Times New Roman"/>
            </a:endParaRPr>
          </a:p>
          <a:p>
            <a:pPr marL="103505" lvl="1" indent="-90805">
              <a:lnSpc>
                <a:spcPct val="100000"/>
              </a:lnSpc>
              <a:spcBef>
                <a:spcPts val="1190"/>
              </a:spcBef>
              <a:buChar char="•"/>
              <a:tabLst>
                <a:tab pos="103505" algn="l"/>
              </a:tabLst>
            </a:pPr>
            <a:r>
              <a:rPr sz="1600" dirty="0">
                <a:latin typeface="Times New Roman"/>
                <a:cs typeface="Times New Roman"/>
              </a:rPr>
              <a:t>Compute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churn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rate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percentage</a:t>
            </a:r>
            <a:endParaRPr sz="1600" dirty="0">
              <a:latin typeface="Times New Roman"/>
              <a:cs typeface="Times New Roman"/>
            </a:endParaRPr>
          </a:p>
          <a:p>
            <a:pPr marL="103505" lvl="1" indent="-90805">
              <a:lnSpc>
                <a:spcPct val="100000"/>
              </a:lnSpc>
              <a:spcBef>
                <a:spcPts val="50"/>
              </a:spcBef>
              <a:buChar char="•"/>
              <a:tabLst>
                <a:tab pos="103505" algn="l"/>
              </a:tabLst>
            </a:pPr>
            <a:r>
              <a:rPr sz="1600" dirty="0">
                <a:latin typeface="Times New Roman"/>
                <a:cs typeface="Times New Roman"/>
              </a:rPr>
              <a:t>Compare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churned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retained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customers</a:t>
            </a:r>
            <a:endParaRPr sz="1600" dirty="0">
              <a:latin typeface="Times New Roman"/>
              <a:cs typeface="Times New Roman"/>
            </a:endParaRPr>
          </a:p>
          <a:p>
            <a:pPr marL="207010" indent="-194310">
              <a:lnSpc>
                <a:spcPct val="100000"/>
              </a:lnSpc>
              <a:spcBef>
                <a:spcPts val="1200"/>
              </a:spcBef>
              <a:buAutoNum type="romanLcPeriod" startAt="3"/>
              <a:tabLst>
                <a:tab pos="207010" algn="l"/>
              </a:tabLst>
            </a:pPr>
            <a:r>
              <a:rPr sz="1600" b="1" dirty="0">
                <a:latin typeface="Times New Roman"/>
                <a:cs typeface="Times New Roman"/>
              </a:rPr>
              <a:t>Analysis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Results:</a:t>
            </a:r>
            <a:endParaRPr sz="1600" dirty="0">
              <a:latin typeface="Times New Roman"/>
              <a:cs typeface="Times New Roman"/>
            </a:endParaRPr>
          </a:p>
          <a:p>
            <a:pPr marL="12700" marR="5080">
              <a:lnSpc>
                <a:spcPct val="103299"/>
              </a:lnSpc>
              <a:spcBef>
                <a:spcPts val="1140"/>
              </a:spcBef>
            </a:pP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analysis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indicates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significant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portion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customers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have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discontinued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services,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highlighting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need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improved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retention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strategies.</a:t>
            </a:r>
            <a:endParaRPr sz="1600" dirty="0">
              <a:latin typeface="Times New Roman"/>
              <a:cs typeface="Times New Roman"/>
            </a:endParaRPr>
          </a:p>
          <a:p>
            <a:pPr marL="194945" indent="-182245">
              <a:lnSpc>
                <a:spcPct val="100000"/>
              </a:lnSpc>
              <a:spcBef>
                <a:spcPts val="1190"/>
              </a:spcBef>
              <a:buAutoNum type="romanLcPeriod" startAt="4"/>
              <a:tabLst>
                <a:tab pos="194945" algn="l"/>
              </a:tabLst>
            </a:pPr>
            <a:r>
              <a:rPr sz="1600" b="1" spc="-10" dirty="0">
                <a:latin typeface="Times New Roman"/>
                <a:cs typeface="Times New Roman"/>
              </a:rPr>
              <a:t>Visualization: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Donut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Chart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KPI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Cards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were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used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clearly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represent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churn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distribution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key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churn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metrics.</a:t>
            </a:r>
            <a:endParaRPr sz="16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3081" y="5194300"/>
            <a:ext cx="6522720" cy="3963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1796" y="779779"/>
            <a:ext cx="6772275" cy="42694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Objective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3:</a:t>
            </a:r>
            <a:r>
              <a:rPr sz="2000" b="1" spc="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Churn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Analysis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Across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Tenure</a:t>
            </a:r>
            <a:endParaRPr sz="2000" dirty="0">
              <a:latin typeface="Times New Roman"/>
              <a:cs typeface="Times New Roman"/>
            </a:endParaRPr>
          </a:p>
          <a:p>
            <a:pPr marL="130810" indent="-118110">
              <a:lnSpc>
                <a:spcPct val="100000"/>
              </a:lnSpc>
              <a:spcBef>
                <a:spcPts val="1190"/>
              </a:spcBef>
              <a:buAutoNum type="romanLcPeriod"/>
              <a:tabLst>
                <a:tab pos="130810" algn="l"/>
              </a:tabLst>
            </a:pPr>
            <a:r>
              <a:rPr sz="1600" b="1" dirty="0">
                <a:latin typeface="Times New Roman"/>
                <a:cs typeface="Times New Roman"/>
              </a:rPr>
              <a:t>General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Description: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1600" dirty="0">
                <a:latin typeface="Times New Roman"/>
                <a:cs typeface="Times New Roman"/>
              </a:rPr>
              <a:t>Examines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how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customer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churn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varies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length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customer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tenure.</a:t>
            </a:r>
            <a:endParaRPr sz="1600" dirty="0">
              <a:latin typeface="Times New Roman"/>
              <a:cs typeface="Times New Roman"/>
            </a:endParaRPr>
          </a:p>
          <a:p>
            <a:pPr marL="173355" indent="-160655">
              <a:lnSpc>
                <a:spcPct val="100000"/>
              </a:lnSpc>
              <a:spcBef>
                <a:spcPts val="1190"/>
              </a:spcBef>
              <a:buAutoNum type="romanLcPeriod" startAt="2"/>
              <a:tabLst>
                <a:tab pos="173355" algn="l"/>
              </a:tabLst>
            </a:pPr>
            <a:r>
              <a:rPr sz="1600" b="1" dirty="0">
                <a:latin typeface="Times New Roman"/>
                <a:cs typeface="Times New Roman"/>
              </a:rPr>
              <a:t>Specific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Requirements:</a:t>
            </a:r>
            <a:endParaRPr sz="1600" dirty="0">
              <a:latin typeface="Times New Roman"/>
              <a:cs typeface="Times New Roman"/>
            </a:endParaRPr>
          </a:p>
          <a:p>
            <a:pPr marL="103505" lvl="1" indent="-90805">
              <a:lnSpc>
                <a:spcPct val="100000"/>
              </a:lnSpc>
              <a:spcBef>
                <a:spcPts val="1190"/>
              </a:spcBef>
              <a:buChar char="•"/>
              <a:tabLst>
                <a:tab pos="103505" algn="l"/>
              </a:tabLst>
            </a:pPr>
            <a:r>
              <a:rPr sz="1600" dirty="0">
                <a:latin typeface="Times New Roman"/>
                <a:cs typeface="Times New Roman"/>
              </a:rPr>
              <a:t>Identify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churn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trends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short-</a:t>
            </a:r>
            <a:r>
              <a:rPr sz="1600" dirty="0">
                <a:latin typeface="Times New Roman"/>
                <a:cs typeface="Times New Roman"/>
              </a:rPr>
              <a:t>term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long-</a:t>
            </a:r>
            <a:r>
              <a:rPr sz="1600" dirty="0">
                <a:latin typeface="Times New Roman"/>
                <a:cs typeface="Times New Roman"/>
              </a:rPr>
              <a:t>term</a:t>
            </a:r>
            <a:r>
              <a:rPr sz="1600" spc="-10" dirty="0">
                <a:latin typeface="Times New Roman"/>
                <a:cs typeface="Times New Roman"/>
              </a:rPr>
              <a:t> customers</a:t>
            </a:r>
            <a:endParaRPr sz="1600" dirty="0">
              <a:latin typeface="Times New Roman"/>
              <a:cs typeface="Times New Roman"/>
            </a:endParaRPr>
          </a:p>
          <a:p>
            <a:pPr marL="94615" lvl="1" indent="-81915">
              <a:lnSpc>
                <a:spcPct val="100000"/>
              </a:lnSpc>
              <a:spcBef>
                <a:spcPts val="45"/>
              </a:spcBef>
              <a:buChar char="•"/>
              <a:tabLst>
                <a:tab pos="94615" algn="l"/>
              </a:tabLst>
            </a:pPr>
            <a:r>
              <a:rPr sz="1600" dirty="0">
                <a:latin typeface="Times New Roman"/>
                <a:cs typeface="Times New Roman"/>
              </a:rPr>
              <a:t>Analyze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loyalty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patterns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over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time</a:t>
            </a:r>
            <a:endParaRPr sz="1600" dirty="0">
              <a:latin typeface="Times New Roman"/>
              <a:cs typeface="Times New Roman"/>
            </a:endParaRPr>
          </a:p>
          <a:p>
            <a:pPr marL="207010" indent="-194310">
              <a:lnSpc>
                <a:spcPct val="100000"/>
              </a:lnSpc>
              <a:spcBef>
                <a:spcPts val="1200"/>
              </a:spcBef>
              <a:buAutoNum type="romanLcPeriod" startAt="3"/>
              <a:tabLst>
                <a:tab pos="207010" algn="l"/>
              </a:tabLst>
            </a:pPr>
            <a:r>
              <a:rPr sz="1600" b="1" dirty="0">
                <a:latin typeface="Times New Roman"/>
                <a:cs typeface="Times New Roman"/>
              </a:rPr>
              <a:t>Analysis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Results:</a:t>
            </a:r>
            <a:endParaRPr sz="1600" dirty="0">
              <a:latin typeface="Times New Roman"/>
              <a:cs typeface="Times New Roman"/>
            </a:endParaRPr>
          </a:p>
          <a:p>
            <a:pPr marL="12700" marR="5080">
              <a:lnSpc>
                <a:spcPct val="103499"/>
              </a:lnSpc>
              <a:spcBef>
                <a:spcPts val="1140"/>
              </a:spcBef>
            </a:pPr>
            <a:r>
              <a:rPr sz="1600" dirty="0">
                <a:latin typeface="Times New Roman"/>
                <a:cs typeface="Times New Roman"/>
              </a:rPr>
              <a:t>Customers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shorter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tenure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show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higher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churn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rate,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while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long-</a:t>
            </a:r>
            <a:r>
              <a:rPr sz="1600" dirty="0">
                <a:latin typeface="Times New Roman"/>
                <a:cs typeface="Times New Roman"/>
              </a:rPr>
              <a:t>term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customers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tend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remain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more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loyal, </a:t>
            </a:r>
            <a:r>
              <a:rPr sz="1600" dirty="0">
                <a:latin typeface="Times New Roman"/>
                <a:cs typeface="Times New Roman"/>
              </a:rPr>
              <a:t>indicating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retention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improves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tenure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increases.</a:t>
            </a:r>
            <a:endParaRPr sz="1600" dirty="0">
              <a:latin typeface="Times New Roman"/>
              <a:cs typeface="Times New Roman"/>
            </a:endParaRPr>
          </a:p>
          <a:p>
            <a:pPr marL="194945" indent="-182245">
              <a:lnSpc>
                <a:spcPct val="100000"/>
              </a:lnSpc>
              <a:spcBef>
                <a:spcPts val="1185"/>
              </a:spcBef>
              <a:buAutoNum type="romanLcPeriod" startAt="4"/>
              <a:tabLst>
                <a:tab pos="194945" algn="l"/>
              </a:tabLst>
            </a:pPr>
            <a:r>
              <a:rPr sz="1600" b="1" spc="-10" dirty="0">
                <a:latin typeface="Times New Roman"/>
                <a:cs typeface="Times New Roman"/>
              </a:rPr>
              <a:t>Visualization: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Line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Chart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was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used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show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churn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rate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trends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across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different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tenure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values.</a:t>
            </a:r>
            <a:endParaRPr sz="16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2285" y="5606083"/>
            <a:ext cx="6551295" cy="3963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1796" y="779779"/>
            <a:ext cx="6571615" cy="42822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Objective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4: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Impact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Contract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Type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on</a:t>
            </a:r>
            <a:r>
              <a:rPr sz="2000" b="1" spc="-20" dirty="0">
                <a:latin typeface="Times New Roman"/>
                <a:cs typeface="Times New Roman"/>
              </a:rPr>
              <a:t> Churn</a:t>
            </a:r>
            <a:endParaRPr sz="2000" dirty="0">
              <a:latin typeface="Times New Roman"/>
              <a:cs typeface="Times New Roman"/>
            </a:endParaRPr>
          </a:p>
          <a:p>
            <a:pPr marL="130810" indent="-118110">
              <a:lnSpc>
                <a:spcPct val="100000"/>
              </a:lnSpc>
              <a:spcBef>
                <a:spcPts val="1190"/>
              </a:spcBef>
              <a:buAutoNum type="romanLcPeriod"/>
              <a:tabLst>
                <a:tab pos="130810" algn="l"/>
              </a:tabLst>
            </a:pPr>
            <a:r>
              <a:rPr sz="1600" b="1" dirty="0">
                <a:latin typeface="Times New Roman"/>
                <a:cs typeface="Times New Roman"/>
              </a:rPr>
              <a:t>General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Description: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1600" dirty="0">
                <a:latin typeface="Times New Roman"/>
                <a:cs typeface="Times New Roman"/>
              </a:rPr>
              <a:t>Analyzes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relationship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between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contract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type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customer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churn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behavior.</a:t>
            </a:r>
            <a:endParaRPr sz="1600" dirty="0">
              <a:latin typeface="Times New Roman"/>
              <a:cs typeface="Times New Roman"/>
            </a:endParaRPr>
          </a:p>
          <a:p>
            <a:pPr marL="173355" indent="-160655">
              <a:lnSpc>
                <a:spcPct val="100000"/>
              </a:lnSpc>
              <a:spcBef>
                <a:spcPts val="1190"/>
              </a:spcBef>
              <a:buAutoNum type="romanLcPeriod" startAt="2"/>
              <a:tabLst>
                <a:tab pos="173355" algn="l"/>
              </a:tabLst>
            </a:pPr>
            <a:r>
              <a:rPr sz="1600" b="1" dirty="0">
                <a:latin typeface="Times New Roman"/>
                <a:cs typeface="Times New Roman"/>
              </a:rPr>
              <a:t>Specific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Requirements:</a:t>
            </a:r>
            <a:endParaRPr sz="1600" dirty="0">
              <a:latin typeface="Times New Roman"/>
              <a:cs typeface="Times New Roman"/>
            </a:endParaRPr>
          </a:p>
          <a:p>
            <a:pPr marL="103505" lvl="1" indent="-90805">
              <a:lnSpc>
                <a:spcPct val="100000"/>
              </a:lnSpc>
              <a:spcBef>
                <a:spcPts val="1190"/>
              </a:spcBef>
              <a:buChar char="•"/>
              <a:tabLst>
                <a:tab pos="103505" algn="l"/>
              </a:tabLst>
            </a:pPr>
            <a:r>
              <a:rPr sz="1600" dirty="0">
                <a:latin typeface="Times New Roman"/>
                <a:cs typeface="Times New Roman"/>
              </a:rPr>
              <a:t>Compare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churn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across</a:t>
            </a:r>
            <a:r>
              <a:rPr sz="1600" spc="-10" dirty="0">
                <a:latin typeface="Times New Roman"/>
                <a:cs typeface="Times New Roman"/>
              </a:rPr>
              <a:t> month-to-</a:t>
            </a:r>
            <a:r>
              <a:rPr sz="1600" dirty="0">
                <a:latin typeface="Times New Roman"/>
                <a:cs typeface="Times New Roman"/>
              </a:rPr>
              <a:t>month,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one-year,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two-</a:t>
            </a:r>
            <a:r>
              <a:rPr sz="1600" dirty="0">
                <a:latin typeface="Times New Roman"/>
                <a:cs typeface="Times New Roman"/>
              </a:rPr>
              <a:t>year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contracts</a:t>
            </a:r>
            <a:endParaRPr sz="1600" dirty="0">
              <a:latin typeface="Times New Roman"/>
              <a:cs typeface="Times New Roman"/>
            </a:endParaRPr>
          </a:p>
          <a:p>
            <a:pPr marL="207010" indent="-194310">
              <a:lnSpc>
                <a:spcPct val="100000"/>
              </a:lnSpc>
              <a:spcBef>
                <a:spcPts val="1185"/>
              </a:spcBef>
              <a:buAutoNum type="romanLcPeriod" startAt="3"/>
              <a:tabLst>
                <a:tab pos="207010" algn="l"/>
              </a:tabLst>
            </a:pPr>
            <a:r>
              <a:rPr sz="1600" b="1" dirty="0">
                <a:latin typeface="Times New Roman"/>
                <a:cs typeface="Times New Roman"/>
              </a:rPr>
              <a:t>Analysis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Results:</a:t>
            </a:r>
            <a:endParaRPr sz="1600" dirty="0">
              <a:latin typeface="Times New Roman"/>
              <a:cs typeface="Times New Roman"/>
            </a:endParaRPr>
          </a:p>
          <a:p>
            <a:pPr marL="12700" marR="5080">
              <a:lnSpc>
                <a:spcPct val="103299"/>
              </a:lnSpc>
              <a:spcBef>
                <a:spcPts val="1155"/>
              </a:spcBef>
            </a:pPr>
            <a:r>
              <a:rPr sz="1600" dirty="0">
                <a:latin typeface="Times New Roman"/>
                <a:cs typeface="Times New Roman"/>
              </a:rPr>
              <a:t>Customers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month-to-</a:t>
            </a:r>
            <a:r>
              <a:rPr sz="1600" dirty="0">
                <a:latin typeface="Times New Roman"/>
                <a:cs typeface="Times New Roman"/>
              </a:rPr>
              <a:t>month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contracts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exhibit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significantly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higher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churn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compared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customers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long- </a:t>
            </a:r>
            <a:r>
              <a:rPr sz="1600" dirty="0">
                <a:latin typeface="Times New Roman"/>
                <a:cs typeface="Times New Roman"/>
              </a:rPr>
              <a:t>term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contracts,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emphasizing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importance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contract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stability.</a:t>
            </a:r>
            <a:endParaRPr sz="1600" dirty="0">
              <a:latin typeface="Times New Roman"/>
              <a:cs typeface="Times New Roman"/>
            </a:endParaRPr>
          </a:p>
          <a:p>
            <a:pPr marL="194945" indent="-182245">
              <a:lnSpc>
                <a:spcPct val="100000"/>
              </a:lnSpc>
              <a:spcBef>
                <a:spcPts val="1190"/>
              </a:spcBef>
              <a:buAutoNum type="romanLcPeriod" startAt="4"/>
              <a:tabLst>
                <a:tab pos="194945" algn="l"/>
              </a:tabLst>
            </a:pPr>
            <a:r>
              <a:rPr sz="1600" b="1" spc="-10" dirty="0">
                <a:latin typeface="Times New Roman"/>
                <a:cs typeface="Times New Roman"/>
              </a:rPr>
              <a:t>Visualization: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Funnel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Chart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and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Area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Chart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were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used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compare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churn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distribution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across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different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contract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types.</a:t>
            </a:r>
            <a:endParaRPr sz="16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796" y="5618659"/>
            <a:ext cx="6503670" cy="39635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1796" y="779779"/>
            <a:ext cx="6628765" cy="47485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Objective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5: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Billing,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Charges,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Service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Usage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Analysis</a:t>
            </a:r>
            <a:endParaRPr sz="2000" dirty="0">
              <a:latin typeface="Times New Roman"/>
              <a:cs typeface="Times New Roman"/>
            </a:endParaRPr>
          </a:p>
          <a:p>
            <a:pPr marL="130810" indent="-118110">
              <a:lnSpc>
                <a:spcPct val="100000"/>
              </a:lnSpc>
              <a:spcBef>
                <a:spcPts val="1190"/>
              </a:spcBef>
              <a:buAutoNum type="romanLcPeriod"/>
              <a:tabLst>
                <a:tab pos="130810" algn="l"/>
              </a:tabLst>
            </a:pPr>
            <a:r>
              <a:rPr sz="1600" b="1" dirty="0">
                <a:latin typeface="Times New Roman"/>
                <a:cs typeface="Times New Roman"/>
              </a:rPr>
              <a:t>General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Description: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1600" dirty="0">
                <a:latin typeface="Times New Roman"/>
                <a:cs typeface="Times New Roman"/>
              </a:rPr>
              <a:t>Evaluates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how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billing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behavior,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monthly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charges,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total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charges,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service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usage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influence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customer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churn.</a:t>
            </a:r>
            <a:endParaRPr sz="1600" dirty="0">
              <a:latin typeface="Times New Roman"/>
              <a:cs typeface="Times New Roman"/>
            </a:endParaRPr>
          </a:p>
          <a:p>
            <a:pPr marL="173355" indent="-160655">
              <a:lnSpc>
                <a:spcPct val="100000"/>
              </a:lnSpc>
              <a:spcBef>
                <a:spcPts val="1190"/>
              </a:spcBef>
              <a:buAutoNum type="romanLcPeriod" startAt="2"/>
              <a:tabLst>
                <a:tab pos="173355" algn="l"/>
              </a:tabLst>
            </a:pPr>
            <a:r>
              <a:rPr sz="1600" b="1" dirty="0">
                <a:latin typeface="Times New Roman"/>
                <a:cs typeface="Times New Roman"/>
              </a:rPr>
              <a:t>Specific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Requirements:</a:t>
            </a:r>
            <a:endParaRPr sz="1600" dirty="0">
              <a:latin typeface="Times New Roman"/>
              <a:cs typeface="Times New Roman"/>
            </a:endParaRPr>
          </a:p>
          <a:p>
            <a:pPr marL="94615" lvl="1" indent="-81915">
              <a:lnSpc>
                <a:spcPct val="100000"/>
              </a:lnSpc>
              <a:spcBef>
                <a:spcPts val="1190"/>
              </a:spcBef>
              <a:buChar char="•"/>
              <a:tabLst>
                <a:tab pos="94615" algn="l"/>
              </a:tabLst>
            </a:pPr>
            <a:r>
              <a:rPr sz="1600" dirty="0">
                <a:latin typeface="Times New Roman"/>
                <a:cs typeface="Times New Roman"/>
              </a:rPr>
              <a:t>Analyze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relationship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between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pricing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churn</a:t>
            </a:r>
            <a:endParaRPr sz="1600" dirty="0">
              <a:latin typeface="Times New Roman"/>
              <a:cs typeface="Times New Roman"/>
            </a:endParaRPr>
          </a:p>
          <a:p>
            <a:pPr marL="103505" lvl="1" indent="-90805">
              <a:lnSpc>
                <a:spcPct val="100000"/>
              </a:lnSpc>
              <a:spcBef>
                <a:spcPts val="45"/>
              </a:spcBef>
              <a:buChar char="•"/>
              <a:tabLst>
                <a:tab pos="103505" algn="l"/>
              </a:tabLst>
            </a:pPr>
            <a:r>
              <a:rPr sz="1600" dirty="0">
                <a:latin typeface="Times New Roman"/>
                <a:cs typeface="Times New Roman"/>
              </a:rPr>
              <a:t>Identify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high-</a:t>
            </a:r>
            <a:r>
              <a:rPr sz="1600" dirty="0">
                <a:latin typeface="Times New Roman"/>
                <a:cs typeface="Times New Roman"/>
              </a:rPr>
              <a:t>risk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customers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based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billing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patterns</a:t>
            </a:r>
            <a:endParaRPr sz="1600" dirty="0">
              <a:latin typeface="Times New Roman"/>
              <a:cs typeface="Times New Roman"/>
            </a:endParaRPr>
          </a:p>
          <a:p>
            <a:pPr marL="207010" indent="-194310">
              <a:lnSpc>
                <a:spcPct val="100000"/>
              </a:lnSpc>
              <a:spcBef>
                <a:spcPts val="1200"/>
              </a:spcBef>
              <a:buAutoNum type="romanLcPeriod" startAt="3"/>
              <a:tabLst>
                <a:tab pos="207010" algn="l"/>
              </a:tabLst>
            </a:pPr>
            <a:r>
              <a:rPr sz="1600" b="1" dirty="0">
                <a:latin typeface="Times New Roman"/>
                <a:cs typeface="Times New Roman"/>
              </a:rPr>
              <a:t>Analysis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Results:</a:t>
            </a:r>
            <a:endParaRPr sz="1600" dirty="0">
              <a:latin typeface="Times New Roman"/>
              <a:cs typeface="Times New Roman"/>
            </a:endParaRPr>
          </a:p>
          <a:p>
            <a:pPr marL="12700" marR="126364">
              <a:lnSpc>
                <a:spcPct val="103499"/>
              </a:lnSpc>
              <a:spcBef>
                <a:spcPts val="1140"/>
              </a:spcBef>
            </a:pPr>
            <a:r>
              <a:rPr sz="1600" dirty="0">
                <a:latin typeface="Times New Roman"/>
                <a:cs typeface="Times New Roman"/>
              </a:rPr>
              <a:t>Customers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higher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monthly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charges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limited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service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engagement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more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likely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churn,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whereas </a:t>
            </a:r>
            <a:r>
              <a:rPr sz="1600" dirty="0">
                <a:latin typeface="Times New Roman"/>
                <a:cs typeface="Times New Roman"/>
              </a:rPr>
              <a:t>customers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using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multiple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services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tend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show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better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retention.</a:t>
            </a:r>
            <a:endParaRPr sz="1600" dirty="0">
              <a:latin typeface="Times New Roman"/>
              <a:cs typeface="Times New Roman"/>
            </a:endParaRPr>
          </a:p>
          <a:p>
            <a:pPr marL="194945" indent="-182245">
              <a:lnSpc>
                <a:spcPct val="100000"/>
              </a:lnSpc>
              <a:spcBef>
                <a:spcPts val="1185"/>
              </a:spcBef>
              <a:buAutoNum type="romanLcPeriod" startAt="4"/>
              <a:tabLst>
                <a:tab pos="194945" algn="l"/>
              </a:tabLst>
            </a:pPr>
            <a:r>
              <a:rPr sz="1600" b="1" spc="-10" dirty="0">
                <a:latin typeface="Times New Roman"/>
                <a:cs typeface="Times New Roman"/>
              </a:rPr>
              <a:t>Visualization:</a:t>
            </a:r>
            <a:endParaRPr sz="1600" dirty="0">
              <a:latin typeface="Times New Roman"/>
              <a:cs typeface="Times New Roman"/>
            </a:endParaRPr>
          </a:p>
          <a:p>
            <a:pPr marL="12700" marR="5080">
              <a:lnSpc>
                <a:spcPct val="103299"/>
              </a:lnSpc>
              <a:spcBef>
                <a:spcPts val="1140"/>
              </a:spcBef>
            </a:pP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Scatter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Plot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was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used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analyze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relationships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between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tenure,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monthly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charges,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total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charges,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helping </a:t>
            </a:r>
            <a:r>
              <a:rPr sz="1600" dirty="0">
                <a:latin typeface="Times New Roman"/>
                <a:cs typeface="Times New Roman"/>
              </a:rPr>
              <a:t>identify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high-</a:t>
            </a:r>
            <a:r>
              <a:rPr sz="1600" dirty="0">
                <a:latin typeface="Times New Roman"/>
                <a:cs typeface="Times New Roman"/>
              </a:rPr>
              <a:t>risk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customer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segments.</a:t>
            </a:r>
            <a:endParaRPr sz="16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796" y="5727700"/>
            <a:ext cx="6513195" cy="3963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1796" y="642619"/>
            <a:ext cx="6410960" cy="41076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Objective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6: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Identification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Key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Churn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Drivers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30810" indent="-118110">
              <a:lnSpc>
                <a:spcPct val="100000"/>
              </a:lnSpc>
              <a:buAutoNum type="romanLcPeriod"/>
              <a:tabLst>
                <a:tab pos="130810" algn="l"/>
              </a:tabLst>
            </a:pPr>
            <a:r>
              <a:rPr sz="1600" b="1" dirty="0">
                <a:latin typeface="Times New Roman"/>
                <a:cs typeface="Times New Roman"/>
              </a:rPr>
              <a:t>General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Description: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600" dirty="0">
                <a:latin typeface="Times New Roman"/>
                <a:cs typeface="Times New Roman"/>
              </a:rPr>
              <a:t>Identifies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most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influential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factors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contributing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customer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churn.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73355" indent="-160655">
              <a:lnSpc>
                <a:spcPct val="100000"/>
              </a:lnSpc>
              <a:buAutoNum type="romanLcPeriod" startAt="2"/>
              <a:tabLst>
                <a:tab pos="173355" algn="l"/>
              </a:tabLst>
            </a:pPr>
            <a:r>
              <a:rPr sz="1600" b="1" dirty="0">
                <a:latin typeface="Times New Roman"/>
                <a:cs typeface="Times New Roman"/>
              </a:rPr>
              <a:t>Specific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Requirements:</a:t>
            </a:r>
            <a:endParaRPr sz="1600" dirty="0">
              <a:latin typeface="Times New Roman"/>
              <a:cs typeface="Times New Roman"/>
            </a:endParaRPr>
          </a:p>
          <a:p>
            <a:pPr marL="103505" lvl="1" indent="-90805">
              <a:lnSpc>
                <a:spcPct val="100000"/>
              </a:lnSpc>
              <a:spcBef>
                <a:spcPts val="50"/>
              </a:spcBef>
              <a:buChar char="•"/>
              <a:tabLst>
                <a:tab pos="103505" algn="l"/>
              </a:tabLst>
            </a:pPr>
            <a:r>
              <a:rPr sz="1600" spc="-10" dirty="0">
                <a:latin typeface="Times New Roman"/>
                <a:cs typeface="Times New Roman"/>
              </a:rPr>
              <a:t>Determine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key churn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drivers</a:t>
            </a:r>
            <a:endParaRPr sz="1600" dirty="0">
              <a:latin typeface="Times New Roman"/>
              <a:cs typeface="Times New Roman"/>
            </a:endParaRPr>
          </a:p>
          <a:p>
            <a:pPr marL="103505" lvl="1" indent="-90805">
              <a:lnSpc>
                <a:spcPct val="100000"/>
              </a:lnSpc>
              <a:spcBef>
                <a:spcPts val="45"/>
              </a:spcBef>
              <a:buChar char="•"/>
              <a:tabLst>
                <a:tab pos="103505" algn="l"/>
              </a:tabLst>
            </a:pPr>
            <a:r>
              <a:rPr sz="1600" dirty="0">
                <a:latin typeface="Times New Roman"/>
                <a:cs typeface="Times New Roman"/>
              </a:rPr>
              <a:t>Explain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why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customers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more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likely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churn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207010" indent="-194310">
              <a:lnSpc>
                <a:spcPct val="100000"/>
              </a:lnSpc>
              <a:spcBef>
                <a:spcPts val="5"/>
              </a:spcBef>
              <a:buAutoNum type="romanLcPeriod" startAt="3"/>
              <a:tabLst>
                <a:tab pos="207010" algn="l"/>
              </a:tabLst>
            </a:pPr>
            <a:r>
              <a:rPr sz="1600" b="1" dirty="0">
                <a:latin typeface="Times New Roman"/>
                <a:cs typeface="Times New Roman"/>
              </a:rPr>
              <a:t>Analysis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Results:</a:t>
            </a:r>
            <a:endParaRPr sz="1600" dirty="0">
              <a:latin typeface="Times New Roman"/>
              <a:cs typeface="Times New Roman"/>
            </a:endParaRPr>
          </a:p>
          <a:p>
            <a:pPr marL="12700" marR="5080">
              <a:lnSpc>
                <a:spcPct val="103299"/>
              </a:lnSpc>
            </a:pPr>
            <a:r>
              <a:rPr sz="1600" dirty="0">
                <a:latin typeface="Times New Roman"/>
                <a:cs typeface="Times New Roman"/>
              </a:rPr>
              <a:t>Key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Influencer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analysis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reveals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contract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type,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tenure,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service-</a:t>
            </a:r>
            <a:r>
              <a:rPr sz="1600" dirty="0">
                <a:latin typeface="Times New Roman"/>
                <a:cs typeface="Times New Roman"/>
              </a:rPr>
              <a:t>related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factors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play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major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role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in </a:t>
            </a:r>
            <a:r>
              <a:rPr sz="1600" dirty="0">
                <a:latin typeface="Times New Roman"/>
                <a:cs typeface="Times New Roman"/>
              </a:rPr>
              <a:t>determining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churn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probability.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94945" indent="-182245">
              <a:lnSpc>
                <a:spcPct val="100000"/>
              </a:lnSpc>
              <a:buAutoNum type="romanLcPeriod" startAt="4"/>
              <a:tabLst>
                <a:tab pos="194945" algn="l"/>
              </a:tabLst>
            </a:pPr>
            <a:r>
              <a:rPr sz="1600" b="1" spc="-10" dirty="0">
                <a:latin typeface="Times New Roman"/>
                <a:cs typeface="Times New Roman"/>
              </a:rPr>
              <a:t>Visualization:</a:t>
            </a:r>
            <a:endParaRPr sz="1600" dirty="0">
              <a:latin typeface="Times New Roman"/>
              <a:cs typeface="Times New Roman"/>
            </a:endParaRPr>
          </a:p>
          <a:p>
            <a:pPr marL="12700" marR="236854">
              <a:lnSpc>
                <a:spcPct val="103299"/>
              </a:lnSpc>
              <a:spcBef>
                <a:spcPts val="5"/>
              </a:spcBef>
            </a:pP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Key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Influencers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visual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was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used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automatically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identify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explain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factors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most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strongly </a:t>
            </a:r>
            <a:r>
              <a:rPr sz="1600" dirty="0">
                <a:latin typeface="Times New Roman"/>
                <a:cs typeface="Times New Roman"/>
              </a:rPr>
              <a:t>associated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customer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churn.</a:t>
            </a:r>
            <a:endParaRPr sz="16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796" y="5727700"/>
            <a:ext cx="6484620" cy="39635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0084" y="1031493"/>
            <a:ext cx="6727825" cy="789940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019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Times New Roman"/>
                <a:cs typeface="Times New Roman"/>
              </a:rPr>
              <a:t>5.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Conclusion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Telecom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Customer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Churn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Dashboard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project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provided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comprehensive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platform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analyze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customer</a:t>
            </a:r>
            <a:r>
              <a:rPr lang="en-US" sz="16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behavior,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service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usage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patterns,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churn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dynamics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within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telecom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industry.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leveraging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Power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BI’s </a:t>
            </a:r>
            <a:r>
              <a:rPr sz="1600" spc="-10" dirty="0">
                <a:latin typeface="Times New Roman"/>
                <a:cs typeface="Times New Roman"/>
              </a:rPr>
              <a:t>interactive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visuals,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DAX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measures,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slicers,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project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successfully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transformed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raw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customer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into </a:t>
            </a:r>
            <a:r>
              <a:rPr sz="1600" dirty="0">
                <a:latin typeface="Times New Roman"/>
                <a:cs typeface="Times New Roman"/>
              </a:rPr>
              <a:t>meaningful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actionable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insights.</a:t>
            </a:r>
            <a:endParaRPr lang="en-US" sz="1600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endParaRPr sz="1600" dirty="0">
              <a:latin typeface="Times New Roman"/>
              <a:cs typeface="Times New Roman"/>
            </a:endParaRPr>
          </a:p>
          <a:p>
            <a:pPr marL="12700" marR="188595">
              <a:lnSpc>
                <a:spcPct val="103299"/>
              </a:lnSpc>
            </a:pPr>
            <a:r>
              <a:rPr sz="1600" dirty="0">
                <a:latin typeface="Times New Roman"/>
                <a:cs typeface="Times New Roman"/>
              </a:rPr>
              <a:t>Through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first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objective,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customer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demographics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were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analyzed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understand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composition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customer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base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identify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key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segments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contributing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overall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churn.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second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objective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focused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on </a:t>
            </a:r>
            <a:r>
              <a:rPr sz="1600" dirty="0">
                <a:latin typeface="Times New Roman"/>
                <a:cs typeface="Times New Roman"/>
              </a:rPr>
              <a:t>evaluating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overall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churn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performance,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helping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quantify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churn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rate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churn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count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across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organization.</a:t>
            </a:r>
            <a:endParaRPr lang="en-US" sz="1600" spc="-10" dirty="0">
              <a:latin typeface="Times New Roman"/>
              <a:cs typeface="Times New Roman"/>
            </a:endParaRPr>
          </a:p>
          <a:p>
            <a:pPr marL="12700" marR="188595">
              <a:lnSpc>
                <a:spcPct val="103299"/>
              </a:lnSpc>
            </a:pPr>
            <a:endParaRPr sz="1600" dirty="0">
              <a:latin typeface="Times New Roman"/>
              <a:cs typeface="Times New Roman"/>
            </a:endParaRPr>
          </a:p>
          <a:p>
            <a:pPr marL="12700" marR="156210">
              <a:lnSpc>
                <a:spcPct val="103400"/>
              </a:lnSpc>
            </a:pPr>
            <a:r>
              <a:rPr sz="1600" dirty="0">
                <a:latin typeface="Times New Roman"/>
                <a:cs typeface="Times New Roman"/>
              </a:rPr>
              <a:t>Moving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further,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third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objective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examined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churn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trends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across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customer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tenure,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revealing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customers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shorter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tenure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more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likely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discontinue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services.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fourth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objective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highlighted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impact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of </a:t>
            </a:r>
            <a:r>
              <a:rPr sz="1600" dirty="0">
                <a:latin typeface="Times New Roman"/>
                <a:cs typeface="Times New Roman"/>
              </a:rPr>
              <a:t>contract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types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churn,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clearly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showing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higher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churn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rates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among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month-to-</a:t>
            </a:r>
            <a:r>
              <a:rPr sz="1600" dirty="0">
                <a:latin typeface="Times New Roman"/>
                <a:cs typeface="Times New Roman"/>
              </a:rPr>
              <a:t>month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customers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compared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 </a:t>
            </a:r>
            <a:r>
              <a:rPr sz="1600" spc="-10" dirty="0">
                <a:latin typeface="Times New Roman"/>
                <a:cs typeface="Times New Roman"/>
              </a:rPr>
              <a:t>long-</a:t>
            </a:r>
            <a:r>
              <a:rPr sz="1600" dirty="0">
                <a:latin typeface="Times New Roman"/>
                <a:cs typeface="Times New Roman"/>
              </a:rPr>
              <a:t>term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contract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holders.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fifth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objective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explored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billing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behavior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service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usage,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demonstrating</a:t>
            </a:r>
            <a:r>
              <a:rPr lang="en-US"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how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higher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monthly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charges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limited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service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adoption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increase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churn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risk.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Finally,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sixth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objective </a:t>
            </a:r>
            <a:r>
              <a:rPr sz="1600" dirty="0">
                <a:latin typeface="Times New Roman"/>
                <a:cs typeface="Times New Roman"/>
              </a:rPr>
              <a:t>utilized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advanced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analytics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identify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key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churn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drivers,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enabling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deeper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understanding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factors </a:t>
            </a:r>
            <a:r>
              <a:rPr sz="1600" dirty="0">
                <a:latin typeface="Times New Roman"/>
                <a:cs typeface="Times New Roman"/>
              </a:rPr>
              <a:t>influencing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customer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attrition.</a:t>
            </a:r>
            <a:endParaRPr lang="en-US" sz="1600" spc="-10" dirty="0">
              <a:latin typeface="Times New Roman"/>
              <a:cs typeface="Times New Roman"/>
            </a:endParaRPr>
          </a:p>
          <a:p>
            <a:pPr marL="12700" marR="156210">
              <a:lnSpc>
                <a:spcPct val="103400"/>
              </a:lnSpc>
            </a:pPr>
            <a:endParaRPr sz="1600" dirty="0">
              <a:latin typeface="Times New Roman"/>
              <a:cs typeface="Times New Roman"/>
            </a:endParaRPr>
          </a:p>
          <a:p>
            <a:pPr marL="12700" marR="95250" algn="just">
              <a:lnSpc>
                <a:spcPct val="103299"/>
              </a:lnSpc>
            </a:pPr>
            <a:r>
              <a:rPr sz="1600" dirty="0">
                <a:latin typeface="Times New Roman"/>
                <a:cs typeface="Times New Roman"/>
              </a:rPr>
              <a:t>Overall,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project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strengthened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practical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skills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modeling,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business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analytics,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storytelling </a:t>
            </a:r>
            <a:r>
              <a:rPr sz="1600" dirty="0">
                <a:latin typeface="Times New Roman"/>
                <a:cs typeface="Times New Roman"/>
              </a:rPr>
              <a:t>using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Power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BI.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interactive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dashboard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format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made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insights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accessible,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visually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appealing,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easy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 </a:t>
            </a:r>
            <a:r>
              <a:rPr sz="1600" dirty="0">
                <a:latin typeface="Times New Roman"/>
                <a:cs typeface="Times New Roman"/>
              </a:rPr>
              <a:t>interpret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both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technical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non-</a:t>
            </a:r>
            <a:r>
              <a:rPr sz="1600" dirty="0">
                <a:latin typeface="Times New Roman"/>
                <a:cs typeface="Times New Roman"/>
              </a:rPr>
              <a:t>technical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stakeholders.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project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demonstrates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how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visualization</a:t>
            </a:r>
            <a:endParaRPr sz="16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3299"/>
              </a:lnSpc>
            </a:pPr>
            <a:r>
              <a:rPr sz="1600" dirty="0">
                <a:latin typeface="Times New Roman"/>
                <a:cs typeface="Times New Roman"/>
              </a:rPr>
              <a:t>can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play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crucial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role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improving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customer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retention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strategies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supporting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data-</a:t>
            </a:r>
            <a:r>
              <a:rPr sz="1600" dirty="0">
                <a:latin typeface="Times New Roman"/>
                <a:cs typeface="Times New Roman"/>
              </a:rPr>
              <a:t>driven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decision-making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telecom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sector.</a:t>
            </a:r>
            <a:endParaRPr sz="1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0940" y="442975"/>
            <a:ext cx="6791325" cy="80763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Times New Roman"/>
                <a:cs typeface="Times New Roman"/>
              </a:rPr>
              <a:t>6.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Future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Scope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21590" marR="53340">
              <a:lnSpc>
                <a:spcPct val="103299"/>
              </a:lnSpc>
              <a:spcBef>
                <a:spcPts val="5"/>
              </a:spcBef>
            </a:pPr>
            <a:r>
              <a:rPr sz="1600" dirty="0">
                <a:latin typeface="Times New Roman"/>
                <a:cs typeface="Times New Roman"/>
              </a:rPr>
              <a:t>While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current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Power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BI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dashboard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effectively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highlights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key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churn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trends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insights,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there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significant </a:t>
            </a:r>
            <a:r>
              <a:rPr sz="1600" dirty="0">
                <a:latin typeface="Times New Roman"/>
                <a:cs typeface="Times New Roman"/>
              </a:rPr>
              <a:t>scope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enhance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extend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analysis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future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iterations.</a:t>
            </a:r>
            <a:endParaRPr lang="en-US" sz="1600" spc="-10" dirty="0">
              <a:latin typeface="Times New Roman"/>
              <a:cs typeface="Times New Roman"/>
            </a:endParaRPr>
          </a:p>
          <a:p>
            <a:pPr marL="21590" marR="53340">
              <a:lnSpc>
                <a:spcPct val="103299"/>
              </a:lnSpc>
              <a:spcBef>
                <a:spcPts val="5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21590">
              <a:lnSpc>
                <a:spcPct val="100000"/>
              </a:lnSpc>
              <a:spcBef>
                <a:spcPts val="45"/>
              </a:spcBef>
            </a:pPr>
            <a:r>
              <a:rPr sz="1600" spc="-10" dirty="0">
                <a:latin typeface="Times New Roman"/>
                <a:cs typeface="Times New Roman"/>
              </a:rPr>
              <a:t>Firstly,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additional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datasets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such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customer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satisfaction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scores,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call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center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interaction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logs,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network</a:t>
            </a:r>
            <a:endParaRPr sz="1600" dirty="0">
              <a:latin typeface="Times New Roman"/>
              <a:cs typeface="Times New Roman"/>
            </a:endParaRPr>
          </a:p>
          <a:p>
            <a:pPr marL="21590" marR="273685">
              <a:lnSpc>
                <a:spcPct val="103299"/>
              </a:lnSpc>
            </a:pPr>
            <a:r>
              <a:rPr sz="1600" spc="-10" dirty="0">
                <a:latin typeface="Times New Roman"/>
                <a:cs typeface="Times New Roman"/>
              </a:rPr>
              <a:t>performance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metrics,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geographic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location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could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integrated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gain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deeper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insights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into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customer </a:t>
            </a:r>
            <a:r>
              <a:rPr sz="1600" dirty="0">
                <a:latin typeface="Times New Roman"/>
                <a:cs typeface="Times New Roman"/>
              </a:rPr>
              <a:t>experience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its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relationship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churn.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would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allow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organizations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move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beyond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descriptive</a:t>
            </a:r>
            <a:r>
              <a:rPr lang="en-US"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analytics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understand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root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causes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dissatisfaction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more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accurately.</a:t>
            </a:r>
            <a:endParaRPr lang="en-US" sz="1600" spc="-10" dirty="0">
              <a:latin typeface="Times New Roman"/>
              <a:cs typeface="Times New Roman"/>
            </a:endParaRPr>
          </a:p>
          <a:p>
            <a:pPr marL="21590" marR="273685">
              <a:lnSpc>
                <a:spcPct val="103299"/>
              </a:lnSpc>
            </a:pPr>
            <a:endParaRPr sz="1600" dirty="0">
              <a:latin typeface="Times New Roman"/>
              <a:cs typeface="Times New Roman"/>
            </a:endParaRPr>
          </a:p>
          <a:p>
            <a:pPr marL="21590" marR="5080">
              <a:lnSpc>
                <a:spcPct val="103299"/>
              </a:lnSpc>
            </a:pPr>
            <a:r>
              <a:rPr sz="1600" spc="-10" dirty="0">
                <a:latin typeface="Times New Roman"/>
                <a:cs typeface="Times New Roman"/>
              </a:rPr>
              <a:t>Secondly,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advanced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analytics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techniques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such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predictive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churn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modeling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using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machine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learning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algorithms </a:t>
            </a:r>
            <a:r>
              <a:rPr sz="1600" dirty="0">
                <a:latin typeface="Times New Roman"/>
                <a:cs typeface="Times New Roman"/>
              </a:rPr>
              <a:t>can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incorporated.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applying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classification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models,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dashboard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could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predict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churn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probability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for</a:t>
            </a:r>
            <a:endParaRPr sz="1600" dirty="0">
              <a:latin typeface="Times New Roman"/>
              <a:cs typeface="Times New Roman"/>
            </a:endParaRPr>
          </a:p>
          <a:p>
            <a:pPr marL="21590">
              <a:lnSpc>
                <a:spcPct val="100000"/>
              </a:lnSpc>
              <a:spcBef>
                <a:spcPts val="50"/>
              </a:spcBef>
            </a:pPr>
            <a:r>
              <a:rPr sz="1600" dirty="0">
                <a:latin typeface="Times New Roman"/>
                <a:cs typeface="Times New Roman"/>
              </a:rPr>
              <a:t>individual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customers,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enabling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proactive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retention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strategies.</a:t>
            </a:r>
            <a:endParaRPr lang="en-US" sz="1600" spc="-10" dirty="0">
              <a:latin typeface="Times New Roman"/>
              <a:cs typeface="Times New Roman"/>
            </a:endParaRPr>
          </a:p>
          <a:p>
            <a:pPr marL="21590"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21590">
              <a:lnSpc>
                <a:spcPct val="100000"/>
              </a:lnSpc>
              <a:spcBef>
                <a:spcPts val="45"/>
              </a:spcBef>
            </a:pPr>
            <a:r>
              <a:rPr sz="1600" dirty="0">
                <a:latin typeface="Times New Roman"/>
                <a:cs typeface="Times New Roman"/>
              </a:rPr>
              <a:t>Furthermore,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dashboard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enhanced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real-</a:t>
            </a:r>
            <a:r>
              <a:rPr sz="1600" dirty="0">
                <a:latin typeface="Times New Roman"/>
                <a:cs typeface="Times New Roman"/>
              </a:rPr>
              <a:t>time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near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real-</a:t>
            </a:r>
            <a:r>
              <a:rPr sz="1600" dirty="0">
                <a:latin typeface="Times New Roman"/>
                <a:cs typeface="Times New Roman"/>
              </a:rPr>
              <a:t>time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integration,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allowing</a:t>
            </a:r>
            <a:r>
              <a:rPr lang="en-US"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telecom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operators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monitor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churn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trends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continuously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respond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quickly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emerging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risks.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Drill-through </a:t>
            </a:r>
            <a:r>
              <a:rPr sz="1600" dirty="0">
                <a:latin typeface="Times New Roman"/>
                <a:cs typeface="Times New Roman"/>
              </a:rPr>
              <a:t>reports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automated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alerts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could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also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added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improve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decision-</a:t>
            </a:r>
            <a:r>
              <a:rPr sz="1600" dirty="0">
                <a:latin typeface="Times New Roman"/>
                <a:cs typeface="Times New Roman"/>
              </a:rPr>
              <a:t>making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efficiency.</a:t>
            </a:r>
            <a:endParaRPr lang="en-US" sz="1600" spc="-10" dirty="0">
              <a:latin typeface="Times New Roman"/>
              <a:cs typeface="Times New Roman"/>
            </a:endParaRPr>
          </a:p>
          <a:p>
            <a:pPr marL="21590">
              <a:lnSpc>
                <a:spcPct val="100000"/>
              </a:lnSpc>
              <a:spcBef>
                <a:spcPts val="45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21590" marR="97790">
              <a:lnSpc>
                <a:spcPts val="1490"/>
              </a:lnSpc>
            </a:pPr>
            <a:r>
              <a:rPr sz="1600" dirty="0">
                <a:latin typeface="Times New Roman"/>
                <a:cs typeface="Times New Roman"/>
              </a:rPr>
              <a:t>Another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potential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enhancement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deployment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dashboard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Power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BI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Service,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enabling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role-based </a:t>
            </a:r>
            <a:r>
              <a:rPr sz="1600" dirty="0">
                <a:latin typeface="Times New Roman"/>
                <a:cs typeface="Times New Roman"/>
              </a:rPr>
              <a:t>access,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scheduled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refresh,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collaborative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sharing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among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business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teams.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would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make</a:t>
            </a:r>
            <a:r>
              <a:rPr sz="1600" spc="-25" dirty="0">
                <a:latin typeface="Times New Roman"/>
                <a:cs typeface="Times New Roman"/>
              </a:rPr>
              <a:t> the</a:t>
            </a:r>
            <a:r>
              <a:rPr lang="en-US" sz="1600" spc="-25" dirty="0">
                <a:latin typeface="Times New Roman"/>
                <a:cs typeface="Times New Roman"/>
              </a:rPr>
              <a:t> </a:t>
            </a:r>
            <a:r>
              <a:rPr lang="en-US" sz="1600" dirty="0">
                <a:latin typeface="Times New Roman"/>
                <a:cs typeface="Times New Roman"/>
              </a:rPr>
              <a:t>d</a:t>
            </a:r>
            <a:r>
              <a:rPr sz="1600" dirty="0">
                <a:latin typeface="Times New Roman"/>
                <a:cs typeface="Times New Roman"/>
              </a:rPr>
              <a:t>ashboard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more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scalable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suitable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enterprise-</a:t>
            </a:r>
            <a:r>
              <a:rPr sz="1600" dirty="0">
                <a:latin typeface="Times New Roman"/>
                <a:cs typeface="Times New Roman"/>
              </a:rPr>
              <a:t>level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usage.</a:t>
            </a:r>
            <a:endParaRPr lang="en-US" sz="1600" spc="-10" dirty="0">
              <a:latin typeface="Times New Roman"/>
              <a:cs typeface="Times New Roman"/>
            </a:endParaRPr>
          </a:p>
          <a:p>
            <a:pPr marL="21590" marR="97790">
              <a:lnSpc>
                <a:spcPts val="1490"/>
              </a:lnSpc>
            </a:pPr>
            <a:endParaRPr sz="1600" dirty="0">
              <a:latin typeface="Times New Roman"/>
              <a:cs typeface="Times New Roman"/>
            </a:endParaRPr>
          </a:p>
          <a:p>
            <a:pPr marL="21590">
              <a:lnSpc>
                <a:spcPct val="100000"/>
              </a:lnSpc>
              <a:spcBef>
                <a:spcPts val="45"/>
              </a:spcBef>
            </a:pP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conclusion,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foundation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built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through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project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evolve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into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more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advanced,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predictive,</a:t>
            </a:r>
            <a:r>
              <a:rPr sz="1600" spc="-25" dirty="0">
                <a:latin typeface="Times New Roman"/>
                <a:cs typeface="Times New Roman"/>
              </a:rPr>
              <a:t> and</a:t>
            </a:r>
            <a:endParaRPr sz="1600" dirty="0">
              <a:latin typeface="Times New Roman"/>
              <a:cs typeface="Times New Roman"/>
            </a:endParaRPr>
          </a:p>
          <a:p>
            <a:pPr marL="21590" marR="56515">
              <a:lnSpc>
                <a:spcPct val="103299"/>
              </a:lnSpc>
            </a:pPr>
            <a:r>
              <a:rPr sz="1600" spc="-10" dirty="0">
                <a:latin typeface="Times New Roman"/>
                <a:cs typeface="Times New Roman"/>
              </a:rPr>
              <a:t>business-</a:t>
            </a:r>
            <a:r>
              <a:rPr sz="1600" dirty="0">
                <a:latin typeface="Times New Roman"/>
                <a:cs typeface="Times New Roman"/>
              </a:rPr>
              <a:t>ready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analytics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solution.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With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further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enhancements,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serve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only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academic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project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but </a:t>
            </a:r>
            <a:r>
              <a:rPr sz="1600" dirty="0">
                <a:latin typeface="Times New Roman"/>
                <a:cs typeface="Times New Roman"/>
              </a:rPr>
              <a:t>also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practical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tool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improving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customer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retention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business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performance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telecom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industry.</a:t>
            </a:r>
            <a:endParaRPr sz="1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7536" y="442975"/>
            <a:ext cx="5768340" cy="311367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Times New Roman"/>
                <a:cs typeface="Times New Roman"/>
              </a:rPr>
              <a:t>7.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References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30480" marR="958215" indent="252729">
              <a:lnSpc>
                <a:spcPct val="103600"/>
              </a:lnSpc>
              <a:buAutoNum type="arabicPlain"/>
              <a:tabLst>
                <a:tab pos="283210" algn="l"/>
              </a:tabLst>
            </a:pPr>
            <a:r>
              <a:rPr sz="1600" spc="-10" dirty="0">
                <a:latin typeface="Times New Roman"/>
                <a:cs typeface="Times New Roman"/>
              </a:rPr>
              <a:t>IBM</a:t>
            </a:r>
            <a:r>
              <a:rPr sz="1600" spc="-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Analytics,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i="1" spc="-20" dirty="0">
                <a:latin typeface="Times New Roman"/>
                <a:cs typeface="Times New Roman"/>
              </a:rPr>
              <a:t>Telco</a:t>
            </a:r>
            <a:r>
              <a:rPr sz="1600" i="1" spc="-3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Customer</a:t>
            </a:r>
            <a:r>
              <a:rPr sz="1600" i="1" spc="-4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Churn</a:t>
            </a:r>
            <a:r>
              <a:rPr sz="1600" i="1" spc="-5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Dataset</a:t>
            </a:r>
            <a:r>
              <a:rPr sz="1600" dirty="0">
                <a:latin typeface="Times New Roman"/>
                <a:cs typeface="Times New Roman"/>
              </a:rPr>
              <a:t>,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Public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Dataset. [Online].</a:t>
            </a:r>
            <a:r>
              <a:rPr sz="1600" spc="-8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Available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through open data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repositories.</a:t>
            </a:r>
            <a:endParaRPr sz="1600" dirty="0">
              <a:latin typeface="Times New Roman"/>
              <a:cs typeface="Times New Roman"/>
            </a:endParaRPr>
          </a:p>
          <a:p>
            <a:pPr marL="30480" marR="1660525" indent="252729">
              <a:lnSpc>
                <a:spcPct val="104299"/>
              </a:lnSpc>
              <a:spcBef>
                <a:spcPts val="590"/>
              </a:spcBef>
              <a:buAutoNum type="arabicPlain"/>
              <a:tabLst>
                <a:tab pos="283210" algn="l"/>
              </a:tabLst>
            </a:pPr>
            <a:r>
              <a:rPr sz="1600" dirty="0">
                <a:latin typeface="Times New Roman"/>
                <a:cs typeface="Times New Roman"/>
              </a:rPr>
              <a:t>Microsoft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Corporation,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Power</a:t>
            </a:r>
            <a:r>
              <a:rPr sz="1600" i="1" spc="-3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BI</a:t>
            </a:r>
            <a:r>
              <a:rPr sz="1600" i="1" spc="-45" dirty="0">
                <a:latin typeface="Times New Roman"/>
                <a:cs typeface="Times New Roman"/>
              </a:rPr>
              <a:t> </a:t>
            </a:r>
            <a:r>
              <a:rPr sz="1600" i="1" spc="-10" dirty="0">
                <a:latin typeface="Times New Roman"/>
                <a:cs typeface="Times New Roman"/>
              </a:rPr>
              <a:t>Documentation</a:t>
            </a:r>
            <a:r>
              <a:rPr sz="1600" spc="-10" dirty="0">
                <a:latin typeface="Times New Roman"/>
                <a:cs typeface="Times New Roman"/>
              </a:rPr>
              <a:t>. [Online].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Available: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https://learn.microsoft.com/power-</a:t>
            </a:r>
            <a:r>
              <a:rPr sz="1600" spc="-25" dirty="0">
                <a:latin typeface="Times New Roman"/>
                <a:cs typeface="Times New Roman"/>
              </a:rPr>
              <a:t>bi</a:t>
            </a:r>
            <a:endParaRPr sz="1600" dirty="0">
              <a:latin typeface="Times New Roman"/>
              <a:cs typeface="Times New Roman"/>
            </a:endParaRPr>
          </a:p>
          <a:p>
            <a:pPr marL="283210" indent="-252729">
              <a:lnSpc>
                <a:spcPct val="100000"/>
              </a:lnSpc>
              <a:spcBef>
                <a:spcPts val="660"/>
              </a:spcBef>
              <a:buAutoNum type="arabicPlain"/>
              <a:tabLst>
                <a:tab pos="283210" algn="l"/>
              </a:tabLst>
            </a:pPr>
            <a:r>
              <a:rPr sz="1600" dirty="0">
                <a:latin typeface="Times New Roman"/>
                <a:cs typeface="Times New Roman"/>
              </a:rPr>
              <a:t>Kimball,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R.,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&amp;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Ross,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M.,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The</a:t>
            </a:r>
            <a:r>
              <a:rPr sz="1600" i="1" spc="-2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Data</a:t>
            </a:r>
            <a:r>
              <a:rPr sz="1600" i="1" spc="-10" dirty="0">
                <a:latin typeface="Times New Roman"/>
                <a:cs typeface="Times New Roman"/>
              </a:rPr>
              <a:t> </a:t>
            </a:r>
            <a:r>
              <a:rPr sz="1600" i="1" spc="-25" dirty="0">
                <a:latin typeface="Times New Roman"/>
                <a:cs typeface="Times New Roman"/>
              </a:rPr>
              <a:t>Warehouse</a:t>
            </a:r>
            <a:r>
              <a:rPr sz="1600" i="1" spc="-20" dirty="0">
                <a:latin typeface="Times New Roman"/>
                <a:cs typeface="Times New Roman"/>
              </a:rPr>
              <a:t> Toolkit</a:t>
            </a:r>
            <a:r>
              <a:rPr sz="1600" spc="-20" dirty="0">
                <a:latin typeface="Times New Roman"/>
                <a:cs typeface="Times New Roman"/>
              </a:rPr>
              <a:t>, </a:t>
            </a:r>
            <a:r>
              <a:rPr sz="1600" dirty="0">
                <a:latin typeface="Times New Roman"/>
                <a:cs typeface="Times New Roman"/>
              </a:rPr>
              <a:t>3rd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ed.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Wiley,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2013.</a:t>
            </a:r>
            <a:endParaRPr sz="1600" dirty="0">
              <a:latin typeface="Times New Roman"/>
              <a:cs typeface="Times New Roman"/>
            </a:endParaRPr>
          </a:p>
          <a:p>
            <a:pPr marL="283210" indent="-252729">
              <a:lnSpc>
                <a:spcPct val="100000"/>
              </a:lnSpc>
              <a:spcBef>
                <a:spcPts val="670"/>
              </a:spcBef>
              <a:buAutoNum type="arabicPlain"/>
              <a:tabLst>
                <a:tab pos="283210" algn="l"/>
              </a:tabLst>
            </a:pPr>
            <a:r>
              <a:rPr sz="1600" dirty="0">
                <a:latin typeface="Times New Roman"/>
                <a:cs typeface="Times New Roman"/>
              </a:rPr>
              <a:t>Provost,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F.,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&amp;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Fawcett,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T.,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Data</a:t>
            </a:r>
            <a:r>
              <a:rPr sz="1600" i="1" spc="-3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Science</a:t>
            </a:r>
            <a:r>
              <a:rPr sz="1600" i="1" spc="-4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for</a:t>
            </a:r>
            <a:r>
              <a:rPr sz="1600" i="1" spc="-3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Business</a:t>
            </a:r>
            <a:r>
              <a:rPr sz="1600" dirty="0">
                <a:latin typeface="Times New Roman"/>
                <a:cs typeface="Times New Roman"/>
              </a:rPr>
              <a:t>.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O’Reilly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Media,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2013.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49832" y="4072254"/>
            <a:ext cx="5427980" cy="5219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latin typeface="Wingdings"/>
                <a:cs typeface="Wingdings"/>
              </a:rPr>
              <a:t>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LINKEDIN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ENGAGEMENT</a:t>
            </a:r>
            <a:r>
              <a:rPr sz="1600" b="1" spc="-7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LINK:</a:t>
            </a:r>
            <a:endParaRPr sz="160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  <a:spcBef>
                <a:spcPts val="70"/>
              </a:spcBef>
            </a:pPr>
            <a:r>
              <a:rPr sz="1600" u="sng" spc="-2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2"/>
              </a:rPr>
              <a:t>https://www.linkedin.com/in/roshanikumari110/recent-</a:t>
            </a:r>
            <a:r>
              <a:rPr sz="1600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2"/>
              </a:rPr>
              <a:t>activity/all/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765</TotalTime>
  <Words>1668</Words>
  <Application>Microsoft Office PowerPoint</Application>
  <PresentationFormat>Custom</PresentationFormat>
  <Paragraphs>154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Arial MT</vt:lpstr>
      <vt:lpstr>Bookman Old Style</vt:lpstr>
      <vt:lpstr>Calibri</vt:lpstr>
      <vt:lpstr>Courier New</vt:lpstr>
      <vt:lpstr>Rockwell</vt:lpstr>
      <vt:lpstr>Times New Roman</vt:lpstr>
      <vt:lpstr>Wingdings</vt:lpstr>
      <vt:lpstr>Damask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GUIDELINES</dc:title>
  <dc:creator>srikanth</dc:creator>
  <cp:lastModifiedBy>ROSHANI KUMARI</cp:lastModifiedBy>
  <cp:revision>3</cp:revision>
  <dcterms:created xsi:type="dcterms:W3CDTF">2026-02-20T06:54:13Z</dcterms:created>
  <dcterms:modified xsi:type="dcterms:W3CDTF">2026-02-23T06:12:24Z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2025-12-21T00:00:00Z</vt:filetime>
  </property>
  <property fmtid="{D5CDD505-2E9C-101B-9397-08002B2CF9AE}" pid="3" name="Creator">
    <vt:lpwstr>Microsoft® Word for Microsoft 365</vt:lpwstr>
  </property>
  <property fmtid="{D5CDD505-2E9C-101B-9397-08002B2CF9AE}" pid="4" name="LastSaved">
    <vt:filetime>2026-02-20T00:00:00Z</vt:filetime>
  </property>
  <property fmtid="{D5CDD505-2E9C-101B-9397-08002B2CF9AE}" pid="5" name="Producer">
    <vt:lpwstr>Microsoft® Word for Microsoft 365</vt:lpwstr>
  </property>
</Properties>
</file>